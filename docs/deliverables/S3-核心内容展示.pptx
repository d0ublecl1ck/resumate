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各位评委好，我们是参赛队 RMD，材料对应赛题 A11。一句话说：让模拟面试从一问一答，变成有据可查的训练。练面试长期缺三样东西：真实的追问、有依据的反馈、岗位针对性的训练。通用工具能生成问题，但题目与简历无关，评分只给一句表达流畅。我们以简历事实加目标岗位为上下文，让每道题有来源、每个分数有原话证据、每个薄弱项有下一步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问题，我们把它拆成四类。第一，缺乏真实练习，多数学生靠同学互问，题目与本人简历脱节。第二，反馈滞后主观，练完只得到一句表达流畅。第三，岗位针对性弱，一套通用题打所有岗位，考点不对齐。第四，综合评估不足，答完不知道下一轮练什么。共同根因是反馈不成链。对策是把岗位题库、简历事实、评分量表与证据链绑在一起，让结论可解释、可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目标用户和典型场景。面向计算机相关专业、准备技术岗面试的在校学生与应届求职者。一次完整练习分五步：选定目标岗位与简历版本，系统冻结本场快照；完成一轮模拟面试，文字或语音作答都可以；阅读分维度的评估报告，每条结论都能点回具体回答；按报告给出的练习计划补薄弱项；最后复测，用同岗位、同量表的成绩对比成长曲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这是方案总览。一句话定义：用岗位化题库与知识库驱动一场多轮模拟面试，产出有证据的评估报告，再把薄弱项变成下一轮练习。四层能力逐层对应赛题 A11 的一项任务。第一层产出题目、参考答案与知识依据，第二层产出可暂停可回看的会话，第三层产出逐条附证据的报告，第四层产出练习计划、复测入口与成长曲线。四层共用同一套身份、权限与审计。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这一层解决题目来源。岗位维度可扩展：题库与知识库按角色分片，当前落了 Java 后端与 Web 前端两个目标岗位作为验证样本，新增岗位按同一口径补语料与题目即可，不需要改架构。检索用词法打分（BM25，含标题加权）；命中片段作为出题依据并写出处，未命中标注依据不足、不生成引用。右边是岗位题库界面：每道题都挂着一条依据，来自岗位分片的知识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这一层是面试会话，右边是真实界面。对话流里面试官提问带着题型标签和知识来源，下面是我的文字回答（气泡标注「我 · 文字回答」），语音作答时转写文本会回显供本人核对；再下面是面试官针对漏讲要点发起的追问，右下角列出追问依据。右侧三块分别是本场冻结的简历与 JD 快照、语音链路状态和待补要点。转写与播报各自独立失败，任一不可用即降级为纯文字，上下文完整保留。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层是评估。内容维度评四项：技术正确性、知识深度、逻辑严谨性和岗位匹配度。表达维度评三项：语速、清晰度和自信度，只在有录音的语音场次评估。三条硬约束：量表版本冻结并随报告存储；每个维度必须给出具体回答证据，能追到原话；证据不足时标注证据不足，不给分。纯文本场次没有音频信号，语速和清晰度一律标不适用，自信度标为有依据的估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这一页是评估报告的真实界面。左边内容维度四项，技术正确性 84、知识深度 72、逻辑严谨性 60、岗位匹配度 78，每一项右边都挂着一段回答原话作为证据，能直接回指到具体是哪一轮回答。表达维度三项只做可复核的估计，纯文本场次里语速和清晰度标为不适用，不虚构音频指标。右侧是亮点、不足和改进建议，每条建议都挂到具体的练习项编号上，下一轮练什么一目了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估之后必须能变成动作。左边是练习计划界面：每个薄弱维度对应一个练习项，含练习目标、材料和复测入口；知识深度也在其中，卡片只给目标、材料与复测入口，不显示当前分数。右边是成长曲线，连线的四个点是 81、78、88、89，同为同岗位同量表口径；最右侧的 74 是另一口径，只并列展示、不连线，图上已标注这条口径约束。复测结果会回写到同一条成长记录，形成闭环。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本页是端到端架构。前端 React 调 FastAPI，后端按接口、服务、数据访问、模型四层划分，数据库为关系库、会话态用缓存。模型调用不在后端进程内，而由独立的 Agent 运行体承担，它只走公共接口读写业务状态，不直连数据库，这是已冻结的约束。面试官由同一运行体承载，共用单轮循环、工具表与执行模式；模型统一走兼容接口，语音转写与播报同链路、各自独立降级。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静态口径：本页列出仓库的静态情况——路由装饰器与去重路径、页面组件与 story 文件、三层测试用例数、质量门禁数量，外加关键技术选型。每项数字都由页脚命令在 2026-10-10 于本机实测得到，可离线复现，不代表性能或吞吐。评分一致性由人工抽检复核，复评样本的平均绝对偏差、单点最大偏差与覆盖率一并公示；判定不通过只源于单点偏差超上限，已按规程复核，不放宽阈值。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讲系统构成：系统覆盖数据底座到面试闭环。左边五条是同系统能力在面试链路的共用：权限决定报告可见性，加密托管服务对话，面试官由同一运行体承载，写操作共用待确认与审批，上下文用版本快照冻结。右边是 10-09 之后的工程加固：JD 截图识别与微调走真实模型、失败如实报错；AI 引导四态、运行错误块、会话历史分组；提交前门禁拦截假实现与凭据泄露、启动自检排除 .env。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本页是新主论点：AI 与产品完全自融合。主档、简历、岗位、面试、练习五类实体都有 AI 的读写路径，写操作一律走待确认与审批；补丁预览到审批再到生成新版本全程可回溯，会话、轮次与运行错误记在同一套记录里；模型、密钥、运行体、权限沿用同一套托管，AI 行为受同一套执行模式与审计约束。三条可信性约束保持原文。证据见仓库 tools.py 与 agent/api.py。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本页讲交付与演进。已交付分两块。底座侧：事实与版本流、改动审批闭环、JD 识别与微调、运行体、AI 引导与错误块、会话历史、权限与密钥托管；面试侧：岗位题库与知识库、面试官、语音与文字双通道、岗位笔试（客观题、开放题、代码题）、评分量表与评估报告、成长曲线与练习计划。下一阶段：BM25 + 向量检索（RAG）+ rerank 重排，扩充岗位、实时语音与数字人表现层。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这一页讲成本：左侧是成本构成：建设一次性投入，运行含模型调用、语音、服务器与存储、人工复核；右侧是成本口径：单场成本等于输入 token 乘以输入单价加输出 token 乘以输出单价，token 量从会话记录统计。语音成本只在语音场次产生，纯文本场次为零；练习和复测共用同一条链路，边际成本很低。基础设施同样由本项目自建，开发投入集中在业务域模块与界面。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最后做小结。已交付两块：面试闭环含岗位题库、笔试、会话追问、评估报告与成长曲线；平台能力含事实与版本流、改动审批、JD 识别与微调、运行体、AI 引导与错误块。每条可核查：需求与变更挂 Issue 编号，三层测试 583/130/649，五道质量门禁强制运行，含糊实现被拦下。下一步：BM25 + 向量检索（RAG）+ rerank 重排、扩充岗位覆盖、实时语音与数字人表现层。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nd"/>
          <p:cNvSpPr/>
          <p:nvPr/>
        </p:nvSpPr>
        <p:spPr>
          <a:xfrm>
            <a:off x="8763000" y="0"/>
            <a:ext cx="3429000" cy="5969000"/>
          </a:xfrm>
          <a:prstGeom prst="rect">
            <a:avLst/>
          </a:prstGeom>
          <a:solidFill>
            <a:srgbClr val="E9E8E0"/>
          </a:solidFill>
          <a:ln w="12700">
            <a:solidFill>
              <a:srgbClr val="E9E8E0"/>
            </a:solidFill>
            <a:prstDash val="solid"/>
          </a:ln>
        </p:spPr>
      </p:sp>
      <p:sp>
        <p:nvSpPr>
          <p:cNvPr id="3" name="cover-accent"/>
          <p:cNvSpPr/>
          <p:nvPr/>
        </p:nvSpPr>
        <p:spPr>
          <a:xfrm>
            <a:off x="8763000" y="0"/>
            <a:ext cx="3429000" cy="762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4" name="cover-kicker"/>
          <p:cNvSpPr/>
          <p:nvPr/>
        </p:nvSpPr>
        <p:spPr>
          <a:xfrm>
            <a:off x="9067800" y="6096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核心内容展示</a:t>
            </a:r>
            <a:endParaRPr lang="en-US" sz="1200" dirty="0"/>
          </a:p>
        </p:txBody>
      </p:sp>
      <p:sp>
        <p:nvSpPr>
          <p:cNvPr id="5" name="cover-code"/>
          <p:cNvSpPr/>
          <p:nvPr/>
        </p:nvSpPr>
        <p:spPr>
          <a:xfrm>
            <a:off x="9067800" y="939800"/>
            <a:ext cx="2819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A11</a:t>
            </a:r>
            <a:endParaRPr lang="en-US" sz="5400" dirty="0"/>
          </a:p>
        </p:txBody>
      </p:sp>
      <p:sp>
        <p:nvSpPr>
          <p:cNvPr id="6" name="cover-name"/>
          <p:cNvSpPr/>
          <p:nvPr/>
        </p:nvSpPr>
        <p:spPr>
          <a:xfrm>
            <a:off x="9067800" y="1905000"/>
            <a:ext cx="2819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模拟面试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与能力提升软件</a:t>
            </a:r>
            <a:endParaRPr lang="en-US" sz="1800" dirty="0"/>
          </a:p>
        </p:txBody>
      </p:sp>
      <p:sp>
        <p:nvSpPr>
          <p:cNvPr id="7" name="cover-band-rule"/>
          <p:cNvSpPr/>
          <p:nvPr/>
        </p:nvSpPr>
        <p:spPr>
          <a:xfrm>
            <a:off x="9067800" y="2921000"/>
            <a:ext cx="28194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8" name="cover-meta"/>
          <p:cNvSpPr/>
          <p:nvPr/>
        </p:nvSpPr>
        <p:spPr>
          <a:xfrm>
            <a:off x="9067800" y="3124200"/>
            <a:ext cx="2819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参赛队：RMD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命题企业：锐捷网络</a:t>
            </a:r>
            <a:endParaRPr lang="en-US" sz="1200" dirty="0"/>
          </a:p>
        </p:txBody>
      </p:sp>
      <p:sp>
        <p:nvSpPr>
          <p:cNvPr id="9" name="cover-org"/>
          <p:cNvSpPr/>
          <p:nvPr/>
        </p:nvSpPr>
        <p:spPr>
          <a:xfrm>
            <a:off x="609600" y="3048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2026「数字马力杯」第十三届浙江省大学生服务外包创新应用大赛</a:t>
            </a:r>
            <a:endParaRPr lang="en-US" sz="1100" dirty="0"/>
          </a:p>
        </p:txBody>
      </p:sp>
      <p:sp>
        <p:nvSpPr>
          <p:cNvPr id="10" name="cover-title"/>
          <p:cNvSpPr/>
          <p:nvPr/>
        </p:nvSpPr>
        <p:spPr>
          <a:xfrm>
            <a:off x="609600" y="11684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让每一次模拟面试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都留下可追溯的证据</a:t>
            </a:r>
            <a:endParaRPr lang="en-US" sz="4000" dirty="0"/>
          </a:p>
        </p:txBody>
      </p:sp>
      <p:sp>
        <p:nvSpPr>
          <p:cNvPr id="11" name="cover-rule"/>
          <p:cNvSpPr/>
          <p:nvPr/>
        </p:nvSpPr>
        <p:spPr>
          <a:xfrm>
            <a:off x="609600" y="3048000"/>
            <a:ext cx="15240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2" name="cover-sub"/>
          <p:cNvSpPr/>
          <p:nvPr/>
        </p:nvSpPr>
        <p:spPr>
          <a:xfrm>
            <a:off x="609600" y="3403600"/>
            <a:ext cx="749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以「简历事实 + 目标岗位」为上下文，把模拟面试做成可追溯、可评估、可提升的闭环：题目有来源、评分有证据、薄弱项有下一步练习。</a:t>
            </a:r>
            <a:endParaRPr lang="en-US" sz="1600" dirty="0"/>
          </a:p>
        </p:txBody>
      </p:sp>
      <p:sp>
        <p:nvSpPr>
          <p:cNvPr id="13" name="cover-foo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14" name="cover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问题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练面试缺的不是题目，是可追溯的反馈</a:t>
            </a:r>
            <a:endParaRPr lang="en-US" sz="3200" dirty="0"/>
          </a:p>
        </p:txBody>
      </p:sp>
      <p:sp>
        <p:nvSpPr>
          <p:cNvPr id="5" name="c1"/>
          <p:cNvSpPr/>
          <p:nvPr/>
        </p:nvSpPr>
        <p:spPr>
          <a:xfrm>
            <a:off x="609600" y="2133600"/>
            <a:ext cx="5334000" cy="1473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c1n"/>
          <p:cNvSpPr/>
          <p:nvPr/>
        </p:nvSpPr>
        <p:spPr>
          <a:xfrm>
            <a:off x="863600" y="23114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c1t"/>
          <p:cNvSpPr/>
          <p:nvPr/>
        </p:nvSpPr>
        <p:spPr>
          <a:xfrm>
            <a:off x="863600" y="26162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缺乏真实练习</a:t>
            </a:r>
            <a:endParaRPr lang="en-US" sz="2000" dirty="0"/>
          </a:p>
        </p:txBody>
      </p:sp>
      <p:sp>
        <p:nvSpPr>
          <p:cNvPr id="8" name="c1d"/>
          <p:cNvSpPr/>
          <p:nvPr/>
        </p:nvSpPr>
        <p:spPr>
          <a:xfrm>
            <a:off x="863600" y="3073400"/>
            <a:ext cx="482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靠同学互问，题目与本人简历脱节</a:t>
            </a:r>
            <a:endParaRPr lang="en-US" sz="1500" dirty="0"/>
          </a:p>
        </p:txBody>
      </p:sp>
      <p:sp>
        <p:nvSpPr>
          <p:cNvPr id="9" name="c2"/>
          <p:cNvSpPr/>
          <p:nvPr/>
        </p:nvSpPr>
        <p:spPr>
          <a:xfrm>
            <a:off x="6248400" y="2133600"/>
            <a:ext cx="5334000" cy="1473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0" name="c2n"/>
          <p:cNvSpPr/>
          <p:nvPr/>
        </p:nvSpPr>
        <p:spPr>
          <a:xfrm>
            <a:off x="6502400" y="23114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c2t"/>
          <p:cNvSpPr/>
          <p:nvPr/>
        </p:nvSpPr>
        <p:spPr>
          <a:xfrm>
            <a:off x="6502400" y="26162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反馈滞后主观</a:t>
            </a:r>
            <a:endParaRPr lang="en-US" sz="2000" dirty="0"/>
          </a:p>
        </p:txBody>
      </p:sp>
      <p:sp>
        <p:nvSpPr>
          <p:cNvPr id="12" name="c2d"/>
          <p:cNvSpPr/>
          <p:nvPr/>
        </p:nvSpPr>
        <p:spPr>
          <a:xfrm>
            <a:off x="6502400" y="3073400"/>
            <a:ext cx="482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只得到「表达流畅」这类笼统评价</a:t>
            </a:r>
            <a:endParaRPr lang="en-US" sz="1500" dirty="0"/>
          </a:p>
        </p:txBody>
      </p:sp>
      <p:sp>
        <p:nvSpPr>
          <p:cNvPr id="13" name="c3"/>
          <p:cNvSpPr/>
          <p:nvPr/>
        </p:nvSpPr>
        <p:spPr>
          <a:xfrm>
            <a:off x="609600" y="3810000"/>
            <a:ext cx="5334000" cy="1473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4" name="c3n"/>
          <p:cNvSpPr/>
          <p:nvPr/>
        </p:nvSpPr>
        <p:spPr>
          <a:xfrm>
            <a:off x="863600" y="39878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c3t"/>
          <p:cNvSpPr/>
          <p:nvPr/>
        </p:nvSpPr>
        <p:spPr>
          <a:xfrm>
            <a:off x="863600" y="42926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岗位针对性弱</a:t>
            </a:r>
            <a:endParaRPr lang="en-US" sz="2000" dirty="0"/>
          </a:p>
        </p:txBody>
      </p:sp>
      <p:sp>
        <p:nvSpPr>
          <p:cNvPr id="16" name="c3d"/>
          <p:cNvSpPr/>
          <p:nvPr/>
        </p:nvSpPr>
        <p:spPr>
          <a:xfrm>
            <a:off x="863600" y="4749800"/>
            <a:ext cx="482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一套通用题打所有岗位，考点不对齐</a:t>
            </a:r>
            <a:endParaRPr lang="en-US" sz="1500" dirty="0"/>
          </a:p>
        </p:txBody>
      </p:sp>
      <p:sp>
        <p:nvSpPr>
          <p:cNvPr id="17" name="c4"/>
          <p:cNvSpPr/>
          <p:nvPr/>
        </p:nvSpPr>
        <p:spPr>
          <a:xfrm>
            <a:off x="6248400" y="3810000"/>
            <a:ext cx="5334000" cy="1473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8" name="c4n"/>
          <p:cNvSpPr/>
          <p:nvPr/>
        </p:nvSpPr>
        <p:spPr>
          <a:xfrm>
            <a:off x="6502400" y="39878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c4t"/>
          <p:cNvSpPr/>
          <p:nvPr/>
        </p:nvSpPr>
        <p:spPr>
          <a:xfrm>
            <a:off x="6502400" y="42926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综合评估不足</a:t>
            </a:r>
            <a:endParaRPr lang="en-US" sz="2000" dirty="0"/>
          </a:p>
        </p:txBody>
      </p:sp>
      <p:sp>
        <p:nvSpPr>
          <p:cNvPr id="20" name="c4d"/>
          <p:cNvSpPr/>
          <p:nvPr/>
        </p:nvSpPr>
        <p:spPr>
          <a:xfrm>
            <a:off x="6502400" y="4749800"/>
            <a:ext cx="482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答完不知道下一轮该练什么</a:t>
            </a:r>
            <a:endParaRPr lang="en-US" sz="1500" dirty="0"/>
          </a:p>
        </p:txBody>
      </p:sp>
      <p:sp>
        <p:nvSpPr>
          <p:cNvPr id="21" name="concl"/>
          <p:cNvSpPr/>
          <p:nvPr/>
        </p:nvSpPr>
        <p:spPr>
          <a:xfrm>
            <a:off x="609600" y="5435600"/>
            <a:ext cx="10972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结论：把岗位题库、简历事实、量表与证据链绑在一起，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评估结论才可解释、可复核，也才敢被第三方验证。</a:t>
            </a:r>
            <a:endParaRPr lang="en-US" sz="1500" dirty="0"/>
          </a:p>
        </p:txBody>
      </p:sp>
      <p:sp>
        <p:nvSpPr>
          <p:cNvPr id="22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3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24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目标用户与场景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计算机相关专业学生，准备技术岗面试的一天</a:t>
            </a:r>
            <a:endParaRPr lang="en-US" sz="3200" dirty="0"/>
          </a:p>
        </p:txBody>
      </p:sp>
      <p:sp>
        <p:nvSpPr>
          <p:cNvPr id="5" name="s0-n"/>
          <p:cNvSpPr/>
          <p:nvPr/>
        </p:nvSpPr>
        <p:spPr>
          <a:xfrm>
            <a:off x="609600" y="2032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0-t"/>
          <p:cNvSpPr/>
          <p:nvPr/>
        </p:nvSpPr>
        <p:spPr>
          <a:xfrm>
            <a:off x="609600" y="2311400"/>
            <a:ext cx="20726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选定岗位与简历</a:t>
            </a:r>
            <a:endParaRPr lang="en-US" sz="1500" dirty="0"/>
          </a:p>
        </p:txBody>
      </p:sp>
      <p:sp>
        <p:nvSpPr>
          <p:cNvPr id="7" name="s0-r"/>
          <p:cNvSpPr/>
          <p:nvPr/>
        </p:nvSpPr>
        <p:spPr>
          <a:xfrm>
            <a:off x="609600" y="2768600"/>
            <a:ext cx="2072640" cy="254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8" name="s0-d"/>
          <p:cNvSpPr/>
          <p:nvPr/>
        </p:nvSpPr>
        <p:spPr>
          <a:xfrm>
            <a:off x="609600" y="2946400"/>
            <a:ext cx="207264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选择简历版本与目标 JD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冻结本场上下文快照</a:t>
            </a:r>
            <a:endParaRPr lang="en-US" sz="1250" dirty="0"/>
          </a:p>
        </p:txBody>
      </p:sp>
      <p:sp>
        <p:nvSpPr>
          <p:cNvPr id="9" name="s0-m"/>
          <p:cNvSpPr/>
          <p:nvPr/>
        </p:nvSpPr>
        <p:spPr>
          <a:xfrm>
            <a:off x="609600" y="4038600"/>
            <a:ext cx="2072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5 分钟</a:t>
            </a:r>
            <a:endParaRPr lang="en-US" sz="1250" dirty="0"/>
          </a:p>
        </p:txBody>
      </p:sp>
      <p:sp>
        <p:nvSpPr>
          <p:cNvPr id="10" name="s1-n"/>
          <p:cNvSpPr/>
          <p:nvPr/>
        </p:nvSpPr>
        <p:spPr>
          <a:xfrm>
            <a:off x="2834640" y="2032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1-t"/>
          <p:cNvSpPr/>
          <p:nvPr/>
        </p:nvSpPr>
        <p:spPr>
          <a:xfrm>
            <a:off x="2834640" y="2311400"/>
            <a:ext cx="20726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完成模拟面试</a:t>
            </a:r>
            <a:endParaRPr lang="en-US" sz="1500" dirty="0"/>
          </a:p>
        </p:txBody>
      </p:sp>
      <p:sp>
        <p:nvSpPr>
          <p:cNvPr id="12" name="s1-r"/>
          <p:cNvSpPr/>
          <p:nvPr/>
        </p:nvSpPr>
        <p:spPr>
          <a:xfrm>
            <a:off x="2834640" y="2768600"/>
            <a:ext cx="2072640" cy="254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3" name="s1-d"/>
          <p:cNvSpPr/>
          <p:nvPr/>
        </p:nvSpPr>
        <p:spPr>
          <a:xfrm>
            <a:off x="2834640" y="2946400"/>
            <a:ext cx="207264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文字或语音作答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面试官按要点追问</a:t>
            </a:r>
            <a:endParaRPr lang="en-US" sz="1250" dirty="0"/>
          </a:p>
        </p:txBody>
      </p:sp>
      <p:sp>
        <p:nvSpPr>
          <p:cNvPr id="14" name="s1-m"/>
          <p:cNvSpPr/>
          <p:nvPr/>
        </p:nvSpPr>
        <p:spPr>
          <a:xfrm>
            <a:off x="2834640" y="4038600"/>
            <a:ext cx="2072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20–30 分钟</a:t>
            </a:r>
            <a:endParaRPr lang="en-US" sz="1250" dirty="0"/>
          </a:p>
        </p:txBody>
      </p:sp>
      <p:sp>
        <p:nvSpPr>
          <p:cNvPr id="15" name="s2-n"/>
          <p:cNvSpPr/>
          <p:nvPr/>
        </p:nvSpPr>
        <p:spPr>
          <a:xfrm>
            <a:off x="5059680" y="2032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2-t"/>
          <p:cNvSpPr/>
          <p:nvPr/>
        </p:nvSpPr>
        <p:spPr>
          <a:xfrm>
            <a:off x="5059680" y="2311400"/>
            <a:ext cx="20726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阅读评估报告</a:t>
            </a:r>
            <a:endParaRPr lang="en-US" sz="1500" dirty="0"/>
          </a:p>
        </p:txBody>
      </p:sp>
      <p:sp>
        <p:nvSpPr>
          <p:cNvPr id="17" name="s2-r"/>
          <p:cNvSpPr/>
          <p:nvPr/>
        </p:nvSpPr>
        <p:spPr>
          <a:xfrm>
            <a:off x="5059680" y="2768600"/>
            <a:ext cx="2072640" cy="254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18" name="s2-d"/>
          <p:cNvSpPr/>
          <p:nvPr/>
        </p:nvSpPr>
        <p:spPr>
          <a:xfrm>
            <a:off x="5059680" y="2946400"/>
            <a:ext cx="207264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分维度得分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逐条附回答证据</a:t>
            </a:r>
            <a:endParaRPr lang="en-US" sz="1250" dirty="0"/>
          </a:p>
        </p:txBody>
      </p:sp>
      <p:sp>
        <p:nvSpPr>
          <p:cNvPr id="19" name="s2-m"/>
          <p:cNvSpPr/>
          <p:nvPr/>
        </p:nvSpPr>
        <p:spPr>
          <a:xfrm>
            <a:off x="5059680" y="4038600"/>
            <a:ext cx="2072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10 分钟</a:t>
            </a:r>
            <a:endParaRPr lang="en-US" sz="1250" dirty="0"/>
          </a:p>
        </p:txBody>
      </p:sp>
      <p:sp>
        <p:nvSpPr>
          <p:cNvPr id="20" name="s3-n"/>
          <p:cNvSpPr/>
          <p:nvPr/>
        </p:nvSpPr>
        <p:spPr>
          <a:xfrm>
            <a:off x="7284720" y="2032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3-t"/>
          <p:cNvSpPr/>
          <p:nvPr/>
        </p:nvSpPr>
        <p:spPr>
          <a:xfrm>
            <a:off x="7284720" y="2311400"/>
            <a:ext cx="20726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按计划练习</a:t>
            </a:r>
            <a:endParaRPr lang="en-US" sz="1500" dirty="0"/>
          </a:p>
        </p:txBody>
      </p:sp>
      <p:sp>
        <p:nvSpPr>
          <p:cNvPr id="22" name="s3-r"/>
          <p:cNvSpPr/>
          <p:nvPr/>
        </p:nvSpPr>
        <p:spPr>
          <a:xfrm>
            <a:off x="7284720" y="2768600"/>
            <a:ext cx="2072640" cy="254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3" name="s3-d"/>
          <p:cNvSpPr/>
          <p:nvPr/>
        </p:nvSpPr>
        <p:spPr>
          <a:xfrm>
            <a:off x="7284720" y="2946400"/>
            <a:ext cx="207264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薄弱项对应练习项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含目标与复测入口</a:t>
            </a:r>
            <a:endParaRPr lang="en-US" sz="1250" dirty="0"/>
          </a:p>
        </p:txBody>
      </p:sp>
      <p:sp>
        <p:nvSpPr>
          <p:cNvPr id="24" name="s3-m"/>
          <p:cNvSpPr/>
          <p:nvPr/>
        </p:nvSpPr>
        <p:spPr>
          <a:xfrm>
            <a:off x="7284720" y="4038600"/>
            <a:ext cx="2072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按计划</a:t>
            </a:r>
            <a:endParaRPr lang="en-US" sz="1250" dirty="0"/>
          </a:p>
        </p:txBody>
      </p:sp>
      <p:sp>
        <p:nvSpPr>
          <p:cNvPr id="25" name="s4-n"/>
          <p:cNvSpPr/>
          <p:nvPr/>
        </p:nvSpPr>
        <p:spPr>
          <a:xfrm>
            <a:off x="9509760" y="2032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4-t"/>
          <p:cNvSpPr/>
          <p:nvPr/>
        </p:nvSpPr>
        <p:spPr>
          <a:xfrm>
            <a:off x="9509760" y="2311400"/>
            <a:ext cx="20726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复测并对比</a:t>
            </a:r>
            <a:endParaRPr lang="en-US" sz="1500" dirty="0"/>
          </a:p>
        </p:txBody>
      </p:sp>
      <p:sp>
        <p:nvSpPr>
          <p:cNvPr id="27" name="s4-r"/>
          <p:cNvSpPr/>
          <p:nvPr/>
        </p:nvSpPr>
        <p:spPr>
          <a:xfrm>
            <a:off x="9509760" y="2768600"/>
            <a:ext cx="2072640" cy="254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8" name="s4-d"/>
          <p:cNvSpPr/>
          <p:nvPr/>
        </p:nvSpPr>
        <p:spPr>
          <a:xfrm>
            <a:off x="9509760" y="2946400"/>
            <a:ext cx="207264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同岗位同量表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成长曲线对比</a:t>
            </a:r>
            <a:endParaRPr lang="en-US" sz="1250" dirty="0"/>
          </a:p>
        </p:txBody>
      </p:sp>
      <p:sp>
        <p:nvSpPr>
          <p:cNvPr id="29" name="s4-m"/>
          <p:cNvSpPr/>
          <p:nvPr/>
        </p:nvSpPr>
        <p:spPr>
          <a:xfrm>
            <a:off x="9509760" y="4038600"/>
            <a:ext cx="2072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下一轮</a:t>
            </a:r>
            <a:endParaRPr lang="en-US" sz="1250" dirty="0"/>
          </a:p>
        </p:txBody>
      </p:sp>
      <p:sp>
        <p:nvSpPr>
          <p:cNvPr id="30" name="scene-band"/>
          <p:cNvSpPr/>
          <p:nvPr/>
        </p:nvSpPr>
        <p:spPr>
          <a:xfrm>
            <a:off x="609600" y="4648200"/>
            <a:ext cx="10972800" cy="787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31" name="scene-t"/>
          <p:cNvSpPr/>
          <p:nvPr/>
        </p:nvSpPr>
        <p:spPr>
          <a:xfrm>
            <a:off x="863600" y="4826000"/>
            <a:ext cx="10464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场景落点：一次练习从选岗到复测形成闭环。中间每一步都留下可回看的记录，用户可以顺着记录找到下一次该练什么。</a:t>
            </a:r>
            <a:endParaRPr lang="en-US" sz="1350" dirty="0"/>
          </a:p>
        </p:txBody>
      </p:sp>
      <p:sp>
        <p:nvSpPr>
          <p:cNvPr id="32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33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34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方案总览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一句话：让面试练习有据可查、可评估、可提升</a:t>
            </a:r>
            <a:endParaRPr lang="en-US" sz="3000" dirty="0"/>
          </a:p>
        </p:txBody>
      </p:sp>
      <p:sp>
        <p:nvSpPr>
          <p:cNvPr id="5" name="lead"/>
          <p:cNvSpPr/>
          <p:nvPr/>
        </p:nvSpPr>
        <p:spPr>
          <a:xfrm>
            <a:off x="609600" y="18542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四层能力逐层对应赛题 A11 的一项任务，每层都给出用户可见的产出。</a:t>
            </a:r>
            <a:endParaRPr lang="en-US" sz="1350" dirty="0"/>
          </a:p>
        </p:txBody>
      </p:sp>
      <p:sp>
        <p:nvSpPr>
          <p:cNvPr id="6" name="l0"/>
          <p:cNvSpPr/>
          <p:nvPr/>
        </p:nvSpPr>
        <p:spPr>
          <a:xfrm>
            <a:off x="609600" y="2286000"/>
            <a:ext cx="10972800" cy="8128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7" name="l0-chip"/>
          <p:cNvSpPr/>
          <p:nvPr/>
        </p:nvSpPr>
        <p:spPr>
          <a:xfrm>
            <a:off x="838200" y="2540000"/>
            <a:ext cx="939800" cy="3048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8" name="l0-n"/>
          <p:cNvSpPr/>
          <p:nvPr/>
        </p:nvSpPr>
        <p:spPr>
          <a:xfrm>
            <a:off x="838200" y="2590800"/>
            <a:ext cx="93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DFAE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 1</a:t>
            </a:r>
            <a:endParaRPr lang="en-US" sz="1100" dirty="0"/>
          </a:p>
        </p:txBody>
      </p:sp>
      <p:sp>
        <p:nvSpPr>
          <p:cNvPr id="9" name="l0-t"/>
          <p:cNvSpPr/>
          <p:nvPr/>
        </p:nvSpPr>
        <p:spPr>
          <a:xfrm>
            <a:off x="2006600" y="25400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岗位化题库与知识库</a:t>
            </a:r>
            <a:endParaRPr lang="en-US" sz="1800" dirty="0"/>
          </a:p>
        </p:txBody>
      </p:sp>
      <p:sp>
        <p:nvSpPr>
          <p:cNvPr id="10" name="l0-d"/>
          <p:cNvSpPr/>
          <p:nvPr/>
        </p:nvSpPr>
        <p:spPr>
          <a:xfrm>
            <a:off x="5461000" y="2590800"/>
            <a:ext cx="586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按岗位与题型组织的题目、参考答案与知识依据</a:t>
            </a:r>
            <a:endParaRPr lang="en-US" sz="1350" dirty="0"/>
          </a:p>
        </p:txBody>
      </p:sp>
      <p:sp>
        <p:nvSpPr>
          <p:cNvPr id="11" name="l1"/>
          <p:cNvSpPr/>
          <p:nvPr/>
        </p:nvSpPr>
        <p:spPr>
          <a:xfrm>
            <a:off x="609600" y="3200400"/>
            <a:ext cx="10972800" cy="8128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l1-chip"/>
          <p:cNvSpPr/>
          <p:nvPr/>
        </p:nvSpPr>
        <p:spPr>
          <a:xfrm>
            <a:off x="838200" y="3454400"/>
            <a:ext cx="939800" cy="3048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3" name="l1-n"/>
          <p:cNvSpPr/>
          <p:nvPr/>
        </p:nvSpPr>
        <p:spPr>
          <a:xfrm>
            <a:off x="838200" y="3505200"/>
            <a:ext cx="93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DFAE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 2</a:t>
            </a:r>
            <a:endParaRPr lang="en-US" sz="1100" dirty="0"/>
          </a:p>
        </p:txBody>
      </p:sp>
      <p:sp>
        <p:nvSpPr>
          <p:cNvPr id="14" name="l1-t"/>
          <p:cNvSpPr/>
          <p:nvPr/>
        </p:nvSpPr>
        <p:spPr>
          <a:xfrm>
            <a:off x="2006600" y="34544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多模态多轮面试</a:t>
            </a:r>
            <a:endParaRPr lang="en-US" sz="1800" dirty="0"/>
          </a:p>
        </p:txBody>
      </p:sp>
      <p:sp>
        <p:nvSpPr>
          <p:cNvPr id="15" name="l1-d"/>
          <p:cNvSpPr/>
          <p:nvPr/>
        </p:nvSpPr>
        <p:spPr>
          <a:xfrm>
            <a:off x="5461000" y="3505200"/>
            <a:ext cx="586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一次可暂停、可回看的模拟面试会话</a:t>
            </a:r>
            <a:endParaRPr lang="en-US" sz="1350" dirty="0"/>
          </a:p>
        </p:txBody>
      </p:sp>
      <p:sp>
        <p:nvSpPr>
          <p:cNvPr id="16" name="l2"/>
          <p:cNvSpPr/>
          <p:nvPr/>
        </p:nvSpPr>
        <p:spPr>
          <a:xfrm>
            <a:off x="609600" y="4114800"/>
            <a:ext cx="10972800" cy="8128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7" name="l2-chip"/>
          <p:cNvSpPr/>
          <p:nvPr/>
        </p:nvSpPr>
        <p:spPr>
          <a:xfrm>
            <a:off x="838200" y="4368800"/>
            <a:ext cx="939800" cy="3048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8" name="l2-n"/>
          <p:cNvSpPr/>
          <p:nvPr/>
        </p:nvSpPr>
        <p:spPr>
          <a:xfrm>
            <a:off x="838200" y="4419600"/>
            <a:ext cx="93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DFAE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 3</a:t>
            </a:r>
            <a:endParaRPr lang="en-US" sz="1100" dirty="0"/>
          </a:p>
        </p:txBody>
      </p:sp>
      <p:sp>
        <p:nvSpPr>
          <p:cNvPr id="19" name="l2-t"/>
          <p:cNvSpPr/>
          <p:nvPr/>
        </p:nvSpPr>
        <p:spPr>
          <a:xfrm>
            <a:off x="2006600" y="43688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多维分析</a:t>
            </a:r>
            <a:endParaRPr lang="en-US" sz="1800" dirty="0"/>
          </a:p>
        </p:txBody>
      </p:sp>
      <p:sp>
        <p:nvSpPr>
          <p:cNvPr id="20" name="l2-d"/>
          <p:cNvSpPr/>
          <p:nvPr/>
        </p:nvSpPr>
        <p:spPr>
          <a:xfrm>
            <a:off x="5461000" y="4419600"/>
            <a:ext cx="586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分维度评估报告，逐条附回答证据</a:t>
            </a:r>
            <a:endParaRPr lang="en-US" sz="1350" dirty="0"/>
          </a:p>
        </p:txBody>
      </p:sp>
      <p:sp>
        <p:nvSpPr>
          <p:cNvPr id="21" name="l3"/>
          <p:cNvSpPr/>
          <p:nvPr/>
        </p:nvSpPr>
        <p:spPr>
          <a:xfrm>
            <a:off x="609600" y="5029200"/>
            <a:ext cx="10972800" cy="8128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22" name="l3-chip"/>
          <p:cNvSpPr/>
          <p:nvPr/>
        </p:nvSpPr>
        <p:spPr>
          <a:xfrm>
            <a:off x="838200" y="5283200"/>
            <a:ext cx="939800" cy="3048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23" name="l3-n"/>
          <p:cNvSpPr/>
          <p:nvPr/>
        </p:nvSpPr>
        <p:spPr>
          <a:xfrm>
            <a:off x="838200" y="5334000"/>
            <a:ext cx="93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DFAE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 4</a:t>
            </a:r>
            <a:endParaRPr lang="en-US" sz="1100" dirty="0"/>
          </a:p>
        </p:txBody>
      </p:sp>
      <p:sp>
        <p:nvSpPr>
          <p:cNvPr id="24" name="l3-t"/>
          <p:cNvSpPr/>
          <p:nvPr/>
        </p:nvSpPr>
        <p:spPr>
          <a:xfrm>
            <a:off x="2006600" y="52832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能力提升反馈</a:t>
            </a:r>
            <a:endParaRPr lang="en-US" sz="1800" dirty="0"/>
          </a:p>
        </p:txBody>
      </p:sp>
      <p:sp>
        <p:nvSpPr>
          <p:cNvPr id="25" name="l3-d"/>
          <p:cNvSpPr/>
          <p:nvPr/>
        </p:nvSpPr>
        <p:spPr>
          <a:xfrm>
            <a:off x="5461000" y="5334000"/>
            <a:ext cx="586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练习计划、复测入口与成长曲线</a:t>
            </a:r>
            <a:endParaRPr lang="en-US" sz="1350" dirty="0"/>
          </a:p>
        </p:txBody>
      </p:sp>
      <p:sp>
        <p:nvSpPr>
          <p:cNvPr id="26" name="concl"/>
          <p:cNvSpPr/>
          <p:nvPr/>
        </p:nvSpPr>
        <p:spPr>
          <a:xfrm>
            <a:off x="609600" y="5867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四层共用同一套身份、权限与审计；评估报告默认仅本人可见。</a:t>
            </a:r>
            <a:endParaRPr lang="en-US" sz="1300" dirty="0"/>
          </a:p>
        </p:txBody>
      </p:sp>
      <p:sp>
        <p:nvSpPr>
          <p:cNvPr id="27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8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29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能力一 · 题库与知识库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岗位可扩展 × 四类题，答案必须给出知识来源</a:t>
            </a:r>
            <a:endParaRPr lang="en-US" sz="3000" dirty="0"/>
          </a:p>
        </p:txBody>
      </p:sp>
      <p:sp>
        <p:nvSpPr>
          <p:cNvPr id="5" name="blk0"/>
          <p:cNvSpPr/>
          <p:nvPr/>
        </p:nvSpPr>
        <p:spPr>
          <a:xfrm>
            <a:off x="609600" y="1905000"/>
            <a:ext cx="4191000" cy="8890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blk0-t"/>
          <p:cNvSpPr/>
          <p:nvPr/>
        </p:nvSpPr>
        <p:spPr>
          <a:xfrm>
            <a:off x="812800" y="2032000"/>
            <a:ext cx="378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岗位维度可扩展</a:t>
            </a:r>
            <a:endParaRPr lang="en-US" sz="1300" dirty="0"/>
          </a:p>
        </p:txBody>
      </p:sp>
      <p:sp>
        <p:nvSpPr>
          <p:cNvPr id="7" name="blk0-b"/>
          <p:cNvSpPr/>
          <p:nvPr/>
        </p:nvSpPr>
        <p:spPr>
          <a:xfrm>
            <a:off x="812800" y="2311400"/>
            <a:ext cx="378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当前落地 Java 后端、Web 前端两个目标岗位作为验证样本，新增岗位按同一口径补语料与题目即可。</a:t>
            </a:r>
            <a:endParaRPr lang="en-US" sz="1050" dirty="0"/>
          </a:p>
        </p:txBody>
      </p:sp>
      <p:sp>
        <p:nvSpPr>
          <p:cNvPr id="8" name="blk1"/>
          <p:cNvSpPr/>
          <p:nvPr/>
        </p:nvSpPr>
        <p:spPr>
          <a:xfrm>
            <a:off x="609600" y="2895600"/>
            <a:ext cx="4191000" cy="8890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9" name="blk1-t"/>
          <p:cNvSpPr/>
          <p:nvPr/>
        </p:nvSpPr>
        <p:spPr>
          <a:xfrm>
            <a:off x="812800" y="3022600"/>
            <a:ext cx="378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笔试题型齐全</a:t>
            </a:r>
            <a:endParaRPr lang="en-US" sz="1300" dirty="0"/>
          </a:p>
        </p:txBody>
      </p:sp>
      <p:sp>
        <p:nvSpPr>
          <p:cNvPr id="10" name="blk1-b"/>
          <p:cNvSpPr/>
          <p:nvPr/>
        </p:nvSpPr>
        <p:spPr>
          <a:xfrm>
            <a:off x="812800" y="3302000"/>
            <a:ext cx="378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同一题库另提供客观题、开放题与代码题，附参考答案与来源版本。</a:t>
            </a:r>
            <a:endParaRPr lang="en-US" sz="1050" dirty="0"/>
          </a:p>
        </p:txBody>
      </p:sp>
      <p:sp>
        <p:nvSpPr>
          <p:cNvPr id="11" name="blk2"/>
          <p:cNvSpPr/>
          <p:nvPr/>
        </p:nvSpPr>
        <p:spPr>
          <a:xfrm>
            <a:off x="609600" y="3886200"/>
            <a:ext cx="4191000" cy="8890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blk2-t"/>
          <p:cNvSpPr/>
          <p:nvPr/>
        </p:nvSpPr>
        <p:spPr>
          <a:xfrm>
            <a:off x="812800" y="4013200"/>
            <a:ext cx="378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知识条目可追溯</a:t>
            </a:r>
            <a:endParaRPr lang="en-US" sz="1300" dirty="0"/>
          </a:p>
        </p:txBody>
      </p:sp>
      <p:sp>
        <p:nvSpPr>
          <p:cNvPr id="13" name="blk2-b"/>
          <p:cNvSpPr/>
          <p:nvPr/>
        </p:nvSpPr>
        <p:spPr>
          <a:xfrm>
            <a:off x="812800" y="4292600"/>
            <a:ext cx="378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题目与参考要点挂载知识来源标识，报告中可回指到具体条目。</a:t>
            </a:r>
            <a:endParaRPr lang="en-US" sz="1050" dirty="0"/>
          </a:p>
        </p:txBody>
      </p:sp>
      <p:sp>
        <p:nvSpPr>
          <p:cNvPr id="14" name="blk3"/>
          <p:cNvSpPr/>
          <p:nvPr/>
        </p:nvSpPr>
        <p:spPr>
          <a:xfrm>
            <a:off x="609600" y="4876800"/>
            <a:ext cx="4191000" cy="8890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5" name="blk3-t"/>
          <p:cNvSpPr/>
          <p:nvPr/>
        </p:nvSpPr>
        <p:spPr>
          <a:xfrm>
            <a:off x="812800" y="5003800"/>
            <a:ext cx="378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无依据不作答</a:t>
            </a:r>
            <a:endParaRPr lang="en-US" sz="1300" dirty="0"/>
          </a:p>
        </p:txBody>
      </p:sp>
      <p:sp>
        <p:nvSpPr>
          <p:cNvPr id="16" name="blk3-b"/>
          <p:cNvSpPr/>
          <p:nvPr/>
        </p:nvSpPr>
        <p:spPr>
          <a:xfrm>
            <a:off x="812800" y="5283200"/>
            <a:ext cx="378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检索未命中即标注「依据不足」，不生成任何知识库引用。</a:t>
            </a:r>
            <a:endParaRPr lang="en-US" sz="1050" dirty="0"/>
          </a:p>
        </p:txBody>
      </p:sp>
      <p:pic>
        <p:nvPicPr>
          <p:cNvPr id="17" name="shot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0" y="1905000"/>
            <a:ext cx="6426200" cy="3911600"/>
          </a:xfrm>
          <a:prstGeom prst="rect">
            <a:avLst/>
          </a:prstGeom>
        </p:spPr>
      </p:pic>
      <p:sp>
        <p:nvSpPr>
          <p:cNvPr id="18" name="shot-cap"/>
          <p:cNvSpPr/>
          <p:nvPr/>
        </p:nvSpPr>
        <p:spPr>
          <a:xfrm>
            <a:off x="5080000" y="5892800"/>
            <a:ext cx="642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岗位题库与知识库界面（应用真实运行截图）· 岗位分片四类题、词法检索（BM25）与来源标识</a:t>
            </a:r>
            <a:endParaRPr lang="en-US" sz="1050" dirty="0"/>
          </a:p>
        </p:txBody>
      </p:sp>
      <p:sp>
        <p:nvSpPr>
          <p:cNvPr id="19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0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21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能力二 · 面试会话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语音与文字双通道，面试官按要点追问</a:t>
            </a:r>
            <a:endParaRPr lang="en-US" sz="3000" dirty="0"/>
          </a:p>
        </p:txBody>
      </p:sp>
      <p:sp>
        <p:nvSpPr>
          <p:cNvPr id="5" name="blk0"/>
          <p:cNvSpPr/>
          <p:nvPr/>
        </p:nvSpPr>
        <p:spPr>
          <a:xfrm>
            <a:off x="609600" y="1905000"/>
            <a:ext cx="4191000" cy="1219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blk0-t"/>
          <p:cNvSpPr/>
          <p:nvPr/>
        </p:nvSpPr>
        <p:spPr>
          <a:xfrm>
            <a:off x="838200" y="20828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双通道作答</a:t>
            </a:r>
            <a:endParaRPr lang="en-US" sz="1400" dirty="0"/>
          </a:p>
        </p:txBody>
      </p:sp>
      <p:sp>
        <p:nvSpPr>
          <p:cNvPr id="7" name="blk0-b"/>
          <p:cNvSpPr/>
          <p:nvPr/>
        </p:nvSpPr>
        <p:spPr>
          <a:xfrm>
            <a:off x="838200" y="241300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文字与语音可在同一场混用；转写文本回显给本人核对后再进入评分。</a:t>
            </a:r>
            <a:endParaRPr lang="en-US" sz="1200" dirty="0"/>
          </a:p>
        </p:txBody>
      </p:sp>
      <p:sp>
        <p:nvSpPr>
          <p:cNvPr id="8" name="blk1"/>
          <p:cNvSpPr/>
          <p:nvPr/>
        </p:nvSpPr>
        <p:spPr>
          <a:xfrm>
            <a:off x="609600" y="3225800"/>
            <a:ext cx="4191000" cy="1219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9" name="blk1-t"/>
          <p:cNvSpPr/>
          <p:nvPr/>
        </p:nvSpPr>
        <p:spPr>
          <a:xfrm>
            <a:off x="838200" y="34036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按要点追问</a:t>
            </a:r>
            <a:endParaRPr lang="en-US" sz="1400" dirty="0"/>
          </a:p>
        </p:txBody>
      </p:sp>
      <p:sp>
        <p:nvSpPr>
          <p:cNvPr id="10" name="blk1-b"/>
          <p:cNvSpPr/>
          <p:nvPr/>
        </p:nvSpPr>
        <p:spPr>
          <a:xfrm>
            <a:off x="838200" y="373380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面试官依据当前回答缺失的要点与岗位要求，决定继续追问还是进入下一题。</a:t>
            </a:r>
            <a:endParaRPr lang="en-US" sz="1200" dirty="0"/>
          </a:p>
        </p:txBody>
      </p:sp>
      <p:sp>
        <p:nvSpPr>
          <p:cNvPr id="11" name="blk2"/>
          <p:cNvSpPr/>
          <p:nvPr/>
        </p:nvSpPr>
        <p:spPr>
          <a:xfrm>
            <a:off x="609600" y="4546600"/>
            <a:ext cx="4191000" cy="1219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blk2-t"/>
          <p:cNvSpPr/>
          <p:nvPr/>
        </p:nvSpPr>
        <p:spPr>
          <a:xfrm>
            <a:off x="838200" y="47244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链路可降级</a:t>
            </a:r>
            <a:endParaRPr lang="en-US" sz="1400" dirty="0"/>
          </a:p>
        </p:txBody>
      </p:sp>
      <p:sp>
        <p:nvSpPr>
          <p:cNvPr id="13" name="blk2-b"/>
          <p:cNvSpPr/>
          <p:nvPr/>
        </p:nvSpPr>
        <p:spPr>
          <a:xfrm>
            <a:off x="838200" y="505460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ASR 或播报不可用时自动转纯文字，已有上下文与追问链路完整保留。</a:t>
            </a:r>
            <a:endParaRPr lang="en-US" sz="1200" dirty="0"/>
          </a:p>
        </p:txBody>
      </p:sp>
      <p:pic>
        <p:nvPicPr>
          <p:cNvPr id="14" name="shot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0" y="1905000"/>
            <a:ext cx="6426200" cy="3911600"/>
          </a:xfrm>
          <a:prstGeom prst="rect">
            <a:avLst/>
          </a:prstGeom>
        </p:spPr>
      </p:pic>
      <p:sp>
        <p:nvSpPr>
          <p:cNvPr id="15" name="shot-cap"/>
          <p:cNvSpPr/>
          <p:nvPr/>
        </p:nvSpPr>
        <p:spPr>
          <a:xfrm>
            <a:off x="5080000" y="5892800"/>
            <a:ext cx="642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模拟面试会话界面（应用真实运行截图）· 对话流、转写核对、追问依据与语音链路状态</a:t>
            </a:r>
            <a:endParaRPr lang="en-US" sz="1050" dirty="0"/>
          </a:p>
        </p:txBody>
      </p:sp>
      <p:sp>
        <p:nvSpPr>
          <p:cNvPr id="16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17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18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/ 能力三 · 多维评估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每个分数都能追到原话</a:t>
            </a:r>
            <a:endParaRPr lang="en-US" sz="3200" dirty="0"/>
          </a:p>
        </p:txBody>
      </p:sp>
      <p:sp>
        <p:nvSpPr>
          <p:cNvPr id="5" name="c-l"/>
          <p:cNvSpPr/>
          <p:nvPr/>
        </p:nvSpPr>
        <p:spPr>
          <a:xfrm>
            <a:off x="609600" y="19304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内容维度（4 项）</a:t>
            </a:r>
            <a:endParaRPr lang="en-US" sz="1300" dirty="0"/>
          </a:p>
        </p:txBody>
      </p:sp>
      <p:sp>
        <p:nvSpPr>
          <p:cNvPr id="6" name="cbox"/>
          <p:cNvSpPr/>
          <p:nvPr/>
        </p:nvSpPr>
        <p:spPr>
          <a:xfrm>
            <a:off x="609600" y="2260600"/>
            <a:ext cx="5334000" cy="16510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7" name="cc-b0"/>
          <p:cNvSpPr/>
          <p:nvPr/>
        </p:nvSpPr>
        <p:spPr>
          <a:xfrm>
            <a:off x="863600" y="2540000"/>
            <a:ext cx="22352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8" name="cc-t0"/>
          <p:cNvSpPr/>
          <p:nvPr/>
        </p:nvSpPr>
        <p:spPr>
          <a:xfrm>
            <a:off x="965200" y="26797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技术正确性</a:t>
            </a:r>
            <a:endParaRPr lang="en-US" sz="1300" dirty="0"/>
          </a:p>
        </p:txBody>
      </p:sp>
      <p:sp>
        <p:nvSpPr>
          <p:cNvPr id="9" name="cc-b1"/>
          <p:cNvSpPr/>
          <p:nvPr/>
        </p:nvSpPr>
        <p:spPr>
          <a:xfrm>
            <a:off x="3302000" y="2540000"/>
            <a:ext cx="22352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0" name="cc-t1"/>
          <p:cNvSpPr/>
          <p:nvPr/>
        </p:nvSpPr>
        <p:spPr>
          <a:xfrm>
            <a:off x="3403600" y="26797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知识深度</a:t>
            </a:r>
            <a:endParaRPr lang="en-US" sz="1300" dirty="0"/>
          </a:p>
        </p:txBody>
      </p:sp>
      <p:sp>
        <p:nvSpPr>
          <p:cNvPr id="11" name="cd-b0"/>
          <p:cNvSpPr/>
          <p:nvPr/>
        </p:nvSpPr>
        <p:spPr>
          <a:xfrm>
            <a:off x="863600" y="3200400"/>
            <a:ext cx="22352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2" name="cd-t0"/>
          <p:cNvSpPr/>
          <p:nvPr/>
        </p:nvSpPr>
        <p:spPr>
          <a:xfrm>
            <a:off x="965200" y="33401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逻辑严谨性</a:t>
            </a:r>
            <a:endParaRPr lang="en-US" sz="1300" dirty="0"/>
          </a:p>
        </p:txBody>
      </p:sp>
      <p:sp>
        <p:nvSpPr>
          <p:cNvPr id="13" name="cd-b1"/>
          <p:cNvSpPr/>
          <p:nvPr/>
        </p:nvSpPr>
        <p:spPr>
          <a:xfrm>
            <a:off x="3302000" y="3200400"/>
            <a:ext cx="22352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4" name="cd-t1"/>
          <p:cNvSpPr/>
          <p:nvPr/>
        </p:nvSpPr>
        <p:spPr>
          <a:xfrm>
            <a:off x="3403600" y="3340100"/>
            <a:ext cx="203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岗位匹配度</a:t>
            </a:r>
            <a:endParaRPr lang="en-US" sz="1300" dirty="0"/>
          </a:p>
        </p:txBody>
      </p:sp>
      <p:sp>
        <p:nvSpPr>
          <p:cNvPr id="15" name="e-l"/>
          <p:cNvSpPr/>
          <p:nvPr/>
        </p:nvSpPr>
        <p:spPr>
          <a:xfrm>
            <a:off x="609600" y="41402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表达维度（3 项 · 仅语音场次）</a:t>
            </a:r>
            <a:endParaRPr lang="en-US" sz="1300" dirty="0"/>
          </a:p>
        </p:txBody>
      </p:sp>
      <p:sp>
        <p:nvSpPr>
          <p:cNvPr id="16" name="ebox"/>
          <p:cNvSpPr/>
          <p:nvPr/>
        </p:nvSpPr>
        <p:spPr>
          <a:xfrm>
            <a:off x="609600" y="4470400"/>
            <a:ext cx="5334000" cy="13970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7" name="ec-b0"/>
          <p:cNvSpPr/>
          <p:nvPr/>
        </p:nvSpPr>
        <p:spPr>
          <a:xfrm>
            <a:off x="863600" y="4749800"/>
            <a:ext cx="1397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8" name="ec-t0"/>
          <p:cNvSpPr/>
          <p:nvPr/>
        </p:nvSpPr>
        <p:spPr>
          <a:xfrm>
            <a:off x="965200" y="4889500"/>
            <a:ext cx="119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语速</a:t>
            </a:r>
            <a:endParaRPr lang="en-US" sz="1300" dirty="0"/>
          </a:p>
        </p:txBody>
      </p:sp>
      <p:sp>
        <p:nvSpPr>
          <p:cNvPr id="19" name="ec-b1"/>
          <p:cNvSpPr/>
          <p:nvPr/>
        </p:nvSpPr>
        <p:spPr>
          <a:xfrm>
            <a:off x="2476500" y="4749800"/>
            <a:ext cx="1397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0" name="ec-t1"/>
          <p:cNvSpPr/>
          <p:nvPr/>
        </p:nvSpPr>
        <p:spPr>
          <a:xfrm>
            <a:off x="2578100" y="4889500"/>
            <a:ext cx="119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清晰度</a:t>
            </a:r>
            <a:endParaRPr lang="en-US" sz="1300" dirty="0"/>
          </a:p>
        </p:txBody>
      </p:sp>
      <p:sp>
        <p:nvSpPr>
          <p:cNvPr id="21" name="ec-b2"/>
          <p:cNvSpPr/>
          <p:nvPr/>
        </p:nvSpPr>
        <p:spPr>
          <a:xfrm>
            <a:off x="4089400" y="4749800"/>
            <a:ext cx="1397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2" name="ec-t2"/>
          <p:cNvSpPr/>
          <p:nvPr/>
        </p:nvSpPr>
        <p:spPr>
          <a:xfrm>
            <a:off x="4191000" y="4889500"/>
            <a:ext cx="119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自信度</a:t>
            </a:r>
            <a:endParaRPr lang="en-US" sz="1300" dirty="0"/>
          </a:p>
        </p:txBody>
      </p:sp>
      <p:sp>
        <p:nvSpPr>
          <p:cNvPr id="23" name="e-note"/>
          <p:cNvSpPr/>
          <p:nvPr/>
        </p:nvSpPr>
        <p:spPr>
          <a:xfrm>
            <a:off x="863600" y="5334000"/>
            <a:ext cx="482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纯文本场次：语速与清晰度标「不适用」；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自信度标「有依据的估计」，非事实诊断。</a:t>
            </a:r>
            <a:endParaRPr lang="en-US" sz="1150" dirty="0"/>
          </a:p>
        </p:txBody>
      </p:sp>
      <p:sp>
        <p:nvSpPr>
          <p:cNvPr id="24" name="rbox"/>
          <p:cNvSpPr/>
          <p:nvPr/>
        </p:nvSpPr>
        <p:spPr>
          <a:xfrm>
            <a:off x="6248400" y="1930400"/>
            <a:ext cx="5334000" cy="3937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5" name="r-t"/>
          <p:cNvSpPr/>
          <p:nvPr/>
        </p:nvSpPr>
        <p:spPr>
          <a:xfrm>
            <a:off x="6502400" y="2133600"/>
            <a:ext cx="482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评分三条硬约束</a:t>
            </a:r>
            <a:endParaRPr lang="en-US" sz="1500" dirty="0"/>
          </a:p>
        </p:txBody>
      </p:sp>
      <p:sp>
        <p:nvSpPr>
          <p:cNvPr id="26" name="rr0"/>
          <p:cNvSpPr/>
          <p:nvPr/>
        </p:nvSpPr>
        <p:spPr>
          <a:xfrm>
            <a:off x="6502400" y="2616200"/>
            <a:ext cx="25400" cy="7874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27" name="r0-t"/>
          <p:cNvSpPr/>
          <p:nvPr/>
        </p:nvSpPr>
        <p:spPr>
          <a:xfrm>
            <a:off x="6731000" y="2616200"/>
            <a:ext cx="457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量表版本冻结</a:t>
            </a:r>
            <a:endParaRPr lang="en-US" sz="1400" dirty="0"/>
          </a:p>
        </p:txBody>
      </p:sp>
      <p:sp>
        <p:nvSpPr>
          <p:cNvPr id="28" name="r0-b"/>
          <p:cNvSpPr/>
          <p:nvPr/>
        </p:nvSpPr>
        <p:spPr>
          <a:xfrm>
            <a:off x="6731000" y="29210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量表定义与锚点版本化，并随报告一起存储，否则成长曲线不可比。</a:t>
            </a:r>
            <a:endParaRPr lang="en-US" sz="1200" dirty="0"/>
          </a:p>
        </p:txBody>
      </p:sp>
      <p:sp>
        <p:nvSpPr>
          <p:cNvPr id="29" name="rr1"/>
          <p:cNvSpPr/>
          <p:nvPr/>
        </p:nvSpPr>
        <p:spPr>
          <a:xfrm>
            <a:off x="6502400" y="3632200"/>
            <a:ext cx="25400" cy="7874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30" name="r1-t"/>
          <p:cNvSpPr/>
          <p:nvPr/>
        </p:nvSpPr>
        <p:spPr>
          <a:xfrm>
            <a:off x="6731000" y="3632200"/>
            <a:ext cx="457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逐维度附证据</a:t>
            </a:r>
            <a:endParaRPr lang="en-US" sz="1400" dirty="0"/>
          </a:p>
        </p:txBody>
      </p:sp>
      <p:sp>
        <p:nvSpPr>
          <p:cNvPr id="31" name="r1-b"/>
          <p:cNvSpPr/>
          <p:nvPr/>
        </p:nvSpPr>
        <p:spPr>
          <a:xfrm>
            <a:off x="6731000" y="39370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每个维度给出具体回答证据片段，结论可回指到某一轮问答。</a:t>
            </a:r>
            <a:endParaRPr lang="en-US" sz="1200" dirty="0"/>
          </a:p>
        </p:txBody>
      </p:sp>
      <p:sp>
        <p:nvSpPr>
          <p:cNvPr id="32" name="rr2"/>
          <p:cNvSpPr/>
          <p:nvPr/>
        </p:nvSpPr>
        <p:spPr>
          <a:xfrm>
            <a:off x="6502400" y="4648200"/>
            <a:ext cx="25400" cy="7874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33" name="r2-t"/>
          <p:cNvSpPr/>
          <p:nvPr/>
        </p:nvSpPr>
        <p:spPr>
          <a:xfrm>
            <a:off x="6731000" y="4648200"/>
            <a:ext cx="457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证据不足不给分</a:t>
            </a:r>
            <a:endParaRPr lang="en-US" sz="1400" dirty="0"/>
          </a:p>
        </p:txBody>
      </p:sp>
      <p:sp>
        <p:nvSpPr>
          <p:cNvPr id="34" name="r2-b"/>
          <p:cNvSpPr/>
          <p:nvPr/>
        </p:nvSpPr>
        <p:spPr>
          <a:xfrm>
            <a:off x="6731000" y="49530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证据不足的维度明确标注「证据不足」，不生成猜测性分数。</a:t>
            </a:r>
            <a:endParaRPr lang="en-US" sz="1200" dirty="0"/>
          </a:p>
        </p:txBody>
      </p:sp>
      <p:sp>
        <p:nvSpPr>
          <p:cNvPr id="35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36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37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/ 评估报告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评估报告：维度、证据、建议</a:t>
            </a:r>
            <a:endParaRPr lang="en-US" sz="3000" dirty="0"/>
          </a:p>
        </p:txBody>
      </p:sp>
      <p:sp>
        <p:nvSpPr>
          <p:cNvPr id="5" name="blk0"/>
          <p:cNvSpPr/>
          <p:nvPr/>
        </p:nvSpPr>
        <p:spPr>
          <a:xfrm>
            <a:off x="609600" y="1905000"/>
            <a:ext cx="4191000" cy="1219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blk0-t"/>
          <p:cNvSpPr/>
          <p:nvPr/>
        </p:nvSpPr>
        <p:spPr>
          <a:xfrm>
            <a:off x="838200" y="20828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逐维度附证据</a:t>
            </a:r>
            <a:endParaRPr lang="en-US" sz="1400" dirty="0"/>
          </a:p>
        </p:txBody>
      </p:sp>
      <p:sp>
        <p:nvSpPr>
          <p:cNvPr id="7" name="blk0-b"/>
          <p:cNvSpPr/>
          <p:nvPr/>
        </p:nvSpPr>
        <p:spPr>
          <a:xfrm>
            <a:off x="838200" y="241300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每个分数都挂一段回答原话，结论可回指到具体轮次与量表版本。</a:t>
            </a:r>
            <a:endParaRPr lang="en-US" sz="1200" dirty="0"/>
          </a:p>
        </p:txBody>
      </p:sp>
      <p:sp>
        <p:nvSpPr>
          <p:cNvPr id="8" name="blk1"/>
          <p:cNvSpPr/>
          <p:nvPr/>
        </p:nvSpPr>
        <p:spPr>
          <a:xfrm>
            <a:off x="609600" y="3225800"/>
            <a:ext cx="4191000" cy="1219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9" name="blk1-t"/>
          <p:cNvSpPr/>
          <p:nvPr/>
        </p:nvSpPr>
        <p:spPr>
          <a:xfrm>
            <a:off x="838200" y="34036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证据不足不给分</a:t>
            </a:r>
            <a:endParaRPr lang="en-US" sz="1400" dirty="0"/>
          </a:p>
        </p:txBody>
      </p:sp>
      <p:sp>
        <p:nvSpPr>
          <p:cNvPr id="10" name="blk1-b"/>
          <p:cNvSpPr/>
          <p:nvPr/>
        </p:nvSpPr>
        <p:spPr>
          <a:xfrm>
            <a:off x="838200" y="373380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无法判定的维度明确标注「不适用」或「证据不足」，不生成猜测性分数。</a:t>
            </a:r>
            <a:endParaRPr lang="en-US" sz="1200" dirty="0"/>
          </a:p>
        </p:txBody>
      </p:sp>
      <p:sp>
        <p:nvSpPr>
          <p:cNvPr id="11" name="blk2"/>
          <p:cNvSpPr/>
          <p:nvPr/>
        </p:nvSpPr>
        <p:spPr>
          <a:xfrm>
            <a:off x="609600" y="4546600"/>
            <a:ext cx="4191000" cy="1219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blk2-t"/>
          <p:cNvSpPr/>
          <p:nvPr/>
        </p:nvSpPr>
        <p:spPr>
          <a:xfrm>
            <a:off x="838200" y="47244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量表版本冻结</a:t>
            </a:r>
            <a:endParaRPr lang="en-US" sz="1400" dirty="0"/>
          </a:p>
        </p:txBody>
      </p:sp>
      <p:sp>
        <p:nvSpPr>
          <p:cNvPr id="13" name="blk2-b"/>
          <p:cNvSpPr/>
          <p:nvPr/>
        </p:nvSpPr>
        <p:spPr>
          <a:xfrm>
            <a:off x="838200" y="505460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量表版本随报告存储，保证同一份报告可复现、可复核。</a:t>
            </a:r>
            <a:endParaRPr lang="en-US" sz="1200" dirty="0"/>
          </a:p>
        </p:txBody>
      </p:sp>
      <p:pic>
        <p:nvPicPr>
          <p:cNvPr id="14" name="shot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0" y="1905000"/>
            <a:ext cx="6426200" cy="3911600"/>
          </a:xfrm>
          <a:prstGeom prst="rect">
            <a:avLst/>
          </a:prstGeom>
        </p:spPr>
      </p:pic>
      <p:sp>
        <p:nvSpPr>
          <p:cNvPr id="15" name="shot-cap"/>
          <p:cNvSpPr/>
          <p:nvPr/>
        </p:nvSpPr>
        <p:spPr>
          <a:xfrm>
            <a:off x="5080000" y="5892800"/>
            <a:ext cx="642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单场评估报告界面（应用真实运行截图）· 四维得分、逐字证据与改进建议</a:t>
            </a:r>
            <a:endParaRPr lang="en-US" sz="1050" dirty="0"/>
          </a:p>
        </p:txBody>
      </p:sp>
      <p:sp>
        <p:nvSpPr>
          <p:cNvPr id="16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17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18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/ 能力四 · 提升闭环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薄弱项直接变成下一步练习</a:t>
            </a:r>
            <a:endParaRPr lang="en-US" sz="3000" dirty="0"/>
          </a:p>
        </p:txBody>
      </p:sp>
      <p:sp>
        <p:nvSpPr>
          <p:cNvPr id="5" name="blk0"/>
          <p:cNvSpPr/>
          <p:nvPr/>
        </p:nvSpPr>
        <p:spPr>
          <a:xfrm>
            <a:off x="609600" y="1905000"/>
            <a:ext cx="4191000" cy="1219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blk0-t"/>
          <p:cNvSpPr/>
          <p:nvPr/>
        </p:nvSpPr>
        <p:spPr>
          <a:xfrm>
            <a:off x="838200" y="20828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练习项三件套</a:t>
            </a:r>
            <a:endParaRPr lang="en-US" sz="1400" dirty="0"/>
          </a:p>
        </p:txBody>
      </p:sp>
      <p:sp>
        <p:nvSpPr>
          <p:cNvPr id="7" name="blk0-b"/>
          <p:cNvSpPr/>
          <p:nvPr/>
        </p:nvSpPr>
        <p:spPr>
          <a:xfrm>
            <a:off x="838200" y="241300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每个薄弱维度对应练习目标、练习材料与复测入口，可直接发起复测。</a:t>
            </a:r>
            <a:endParaRPr lang="en-US" sz="1200" dirty="0"/>
          </a:p>
        </p:txBody>
      </p:sp>
      <p:sp>
        <p:nvSpPr>
          <p:cNvPr id="8" name="blk1"/>
          <p:cNvSpPr/>
          <p:nvPr/>
        </p:nvSpPr>
        <p:spPr>
          <a:xfrm>
            <a:off x="609600" y="3225800"/>
            <a:ext cx="4191000" cy="1219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9" name="blk1-t"/>
          <p:cNvSpPr/>
          <p:nvPr/>
        </p:nvSpPr>
        <p:spPr>
          <a:xfrm>
            <a:off x="838200" y="34036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口径约束</a:t>
            </a:r>
            <a:endParaRPr lang="en-US" sz="1400" dirty="0"/>
          </a:p>
        </p:txBody>
      </p:sp>
      <p:sp>
        <p:nvSpPr>
          <p:cNvPr id="10" name="blk1-b"/>
          <p:cNvSpPr/>
          <p:nvPr/>
        </p:nvSpPr>
        <p:spPr>
          <a:xfrm>
            <a:off x="838200" y="373380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只有同岗位、同量表的结果才连成趋势；口径不同只并列展示，不连线。</a:t>
            </a:r>
            <a:endParaRPr lang="en-US" sz="1200" dirty="0"/>
          </a:p>
        </p:txBody>
      </p:sp>
      <p:sp>
        <p:nvSpPr>
          <p:cNvPr id="11" name="blk2"/>
          <p:cNvSpPr/>
          <p:nvPr/>
        </p:nvSpPr>
        <p:spPr>
          <a:xfrm>
            <a:off x="609600" y="4546600"/>
            <a:ext cx="4191000" cy="12192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blk2-t"/>
          <p:cNvSpPr/>
          <p:nvPr/>
        </p:nvSpPr>
        <p:spPr>
          <a:xfrm>
            <a:off x="838200" y="47244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结果回写</a:t>
            </a:r>
            <a:endParaRPr lang="en-US" sz="1400" dirty="0"/>
          </a:p>
        </p:txBody>
      </p:sp>
      <p:sp>
        <p:nvSpPr>
          <p:cNvPr id="13" name="blk2-b"/>
          <p:cNvSpPr/>
          <p:nvPr/>
        </p:nvSpPr>
        <p:spPr>
          <a:xfrm>
            <a:off x="838200" y="5054600"/>
            <a:ext cx="373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复测结果回写到同一条成长记录，形成可对比、可积累的闭环。</a:t>
            </a:r>
            <a:endParaRPr lang="en-US" sz="1200" dirty="0"/>
          </a:p>
        </p:txBody>
      </p:sp>
      <p:pic>
        <p:nvPicPr>
          <p:cNvPr id="14" name="shot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0" y="1905000"/>
            <a:ext cx="6426200" cy="3911600"/>
          </a:xfrm>
          <a:prstGeom prst="rect">
            <a:avLst/>
          </a:prstGeom>
        </p:spPr>
      </p:pic>
      <p:sp>
        <p:nvSpPr>
          <p:cNvPr id="15" name="shot-cap"/>
          <p:cNvSpPr/>
          <p:nvPr/>
        </p:nvSpPr>
        <p:spPr>
          <a:xfrm>
            <a:off x="5080000" y="5892800"/>
            <a:ext cx="642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练习计划与成长曲线界面（应用真实运行截图）· 同口径连线、另一口径并列不连线</a:t>
            </a:r>
            <a:endParaRPr lang="en-US" sz="1050" dirty="0"/>
          </a:p>
        </p:txBody>
      </p:sp>
      <p:sp>
        <p:nvSpPr>
          <p:cNvPr id="16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17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18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技术架构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端到端：前端 → API → 运行体 → 模型</a:t>
            </a:r>
            <a:endParaRPr lang="en-US" sz="3200" dirty="0"/>
          </a:p>
        </p:txBody>
      </p:sp>
      <p:sp>
        <p:nvSpPr>
          <p:cNvPr id="5" name="lane0"/>
          <p:cNvSpPr/>
          <p:nvPr/>
        </p:nvSpPr>
        <p:spPr>
          <a:xfrm>
            <a:off x="609600" y="2082800"/>
            <a:ext cx="10972800" cy="10668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lane0-n"/>
          <p:cNvSpPr/>
          <p:nvPr/>
        </p:nvSpPr>
        <p:spPr>
          <a:xfrm>
            <a:off x="838200" y="22860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</a:t>
            </a:r>
            <a:endParaRPr lang="en-US" sz="1600" dirty="0"/>
          </a:p>
        </p:txBody>
      </p:sp>
      <p:sp>
        <p:nvSpPr>
          <p:cNvPr id="7" name="lane0-s"/>
          <p:cNvSpPr/>
          <p:nvPr/>
        </p:nvSpPr>
        <p:spPr>
          <a:xfrm>
            <a:off x="838200" y="26416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+ Vite</a:t>
            </a:r>
            <a:endParaRPr lang="en-US" sz="1000" dirty="0"/>
          </a:p>
        </p:txBody>
      </p:sp>
      <p:sp>
        <p:nvSpPr>
          <p:cNvPr id="8" name="lane0-b0"/>
          <p:cNvSpPr/>
          <p:nvPr/>
        </p:nvSpPr>
        <p:spPr>
          <a:xfrm>
            <a:off x="2489200" y="2336800"/>
            <a:ext cx="2844800" cy="5588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9" name="lane0-t0"/>
          <p:cNvSpPr/>
          <p:nvPr/>
        </p:nvSpPr>
        <p:spPr>
          <a:xfrm>
            <a:off x="2641600" y="24892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面试会话界面</a:t>
            </a:r>
            <a:endParaRPr lang="en-US" sz="1250" dirty="0"/>
          </a:p>
        </p:txBody>
      </p:sp>
      <p:sp>
        <p:nvSpPr>
          <p:cNvPr id="10" name="lane0-b1"/>
          <p:cNvSpPr/>
          <p:nvPr/>
        </p:nvSpPr>
        <p:spPr>
          <a:xfrm>
            <a:off x="5537200" y="2336800"/>
            <a:ext cx="2844800" cy="5588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1" name="lane0-t1"/>
          <p:cNvSpPr/>
          <p:nvPr/>
        </p:nvSpPr>
        <p:spPr>
          <a:xfrm>
            <a:off x="5689600" y="24892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评估报告界面</a:t>
            </a:r>
            <a:endParaRPr lang="en-US" sz="1250" dirty="0"/>
          </a:p>
        </p:txBody>
      </p:sp>
      <p:sp>
        <p:nvSpPr>
          <p:cNvPr id="12" name="lane0-b2"/>
          <p:cNvSpPr/>
          <p:nvPr/>
        </p:nvSpPr>
        <p:spPr>
          <a:xfrm>
            <a:off x="8585200" y="2336800"/>
            <a:ext cx="2844800" cy="5588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3" name="lane0-t2"/>
          <p:cNvSpPr/>
          <p:nvPr/>
        </p:nvSpPr>
        <p:spPr>
          <a:xfrm>
            <a:off x="8737600" y="24892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练习与曲线界面</a:t>
            </a:r>
            <a:endParaRPr lang="en-US" sz="1250" dirty="0"/>
          </a:p>
        </p:txBody>
      </p:sp>
      <p:sp>
        <p:nvSpPr>
          <p:cNvPr id="14" name="hand0"/>
          <p:cNvSpPr/>
          <p:nvPr/>
        </p:nvSpPr>
        <p:spPr>
          <a:xfrm>
            <a:off x="3886200" y="3149600"/>
            <a:ext cx="38100" cy="1524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5" name="lane1"/>
          <p:cNvSpPr/>
          <p:nvPr/>
        </p:nvSpPr>
        <p:spPr>
          <a:xfrm>
            <a:off x="609600" y="3302000"/>
            <a:ext cx="10972800" cy="10668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16" name="lane1-n"/>
          <p:cNvSpPr/>
          <p:nvPr/>
        </p:nvSpPr>
        <p:spPr>
          <a:xfrm>
            <a:off x="838200" y="35052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</a:t>
            </a:r>
            <a:endParaRPr lang="en-US" sz="1600" dirty="0"/>
          </a:p>
        </p:txBody>
      </p:sp>
      <p:sp>
        <p:nvSpPr>
          <p:cNvPr id="17" name="lane1-s"/>
          <p:cNvSpPr/>
          <p:nvPr/>
        </p:nvSpPr>
        <p:spPr>
          <a:xfrm>
            <a:off x="838200" y="38608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· api → service → dao → models</a:t>
            </a:r>
            <a:endParaRPr lang="en-US" sz="1000" dirty="0"/>
          </a:p>
        </p:txBody>
      </p:sp>
      <p:sp>
        <p:nvSpPr>
          <p:cNvPr id="18" name="lane1-b0"/>
          <p:cNvSpPr/>
          <p:nvPr/>
        </p:nvSpPr>
        <p:spPr>
          <a:xfrm>
            <a:off x="2489200" y="3556000"/>
            <a:ext cx="2844800" cy="5588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9" name="lane1-t0"/>
          <p:cNvSpPr/>
          <p:nvPr/>
        </p:nvSpPr>
        <p:spPr>
          <a:xfrm>
            <a:off x="2641600" y="37084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会话与评分服务</a:t>
            </a:r>
            <a:endParaRPr lang="en-US" sz="1250" dirty="0"/>
          </a:p>
        </p:txBody>
      </p:sp>
      <p:sp>
        <p:nvSpPr>
          <p:cNvPr id="20" name="lane1-b1"/>
          <p:cNvSpPr/>
          <p:nvPr/>
        </p:nvSpPr>
        <p:spPr>
          <a:xfrm>
            <a:off x="5537200" y="3556000"/>
            <a:ext cx="2844800" cy="5588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1" name="lane1-t1"/>
          <p:cNvSpPr/>
          <p:nvPr/>
        </p:nvSpPr>
        <p:spPr>
          <a:xfrm>
            <a:off x="5689600" y="37084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报告与成长记录</a:t>
            </a:r>
            <a:endParaRPr lang="en-US" sz="1250" dirty="0"/>
          </a:p>
        </p:txBody>
      </p:sp>
      <p:sp>
        <p:nvSpPr>
          <p:cNvPr id="22" name="lane1-b2"/>
          <p:cNvSpPr/>
          <p:nvPr/>
        </p:nvSpPr>
        <p:spPr>
          <a:xfrm>
            <a:off x="8585200" y="3556000"/>
            <a:ext cx="2844800" cy="5588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3" name="lane1-t2"/>
          <p:cNvSpPr/>
          <p:nvPr/>
        </p:nvSpPr>
        <p:spPr>
          <a:xfrm>
            <a:off x="8737600" y="37084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权限、审计与幂等</a:t>
            </a:r>
            <a:endParaRPr lang="en-US" sz="1250" dirty="0"/>
          </a:p>
        </p:txBody>
      </p:sp>
      <p:sp>
        <p:nvSpPr>
          <p:cNvPr id="24" name="hand1"/>
          <p:cNvSpPr/>
          <p:nvPr/>
        </p:nvSpPr>
        <p:spPr>
          <a:xfrm>
            <a:off x="3886200" y="4368800"/>
            <a:ext cx="38100" cy="1524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25" name="lane2"/>
          <p:cNvSpPr/>
          <p:nvPr/>
        </p:nvSpPr>
        <p:spPr>
          <a:xfrm>
            <a:off x="609600" y="4521200"/>
            <a:ext cx="10972800" cy="10668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26" name="lane2-n"/>
          <p:cNvSpPr/>
          <p:nvPr/>
        </p:nvSpPr>
        <p:spPr>
          <a:xfrm>
            <a:off x="838200" y="47244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运行体</a:t>
            </a:r>
            <a:endParaRPr lang="en-US" sz="1600" dirty="0"/>
          </a:p>
        </p:txBody>
      </p:sp>
      <p:sp>
        <p:nvSpPr>
          <p:cNvPr id="27" name="lane2-s"/>
          <p:cNvSpPr/>
          <p:nvPr/>
        </p:nvSpPr>
        <p:spPr>
          <a:xfrm>
            <a:off x="838200" y="50800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agent-core · 独立进程</a:t>
            </a:r>
            <a:endParaRPr lang="en-US" sz="1000" dirty="0"/>
          </a:p>
        </p:txBody>
      </p:sp>
      <p:sp>
        <p:nvSpPr>
          <p:cNvPr id="28" name="lane2-b0"/>
          <p:cNvSpPr/>
          <p:nvPr/>
        </p:nvSpPr>
        <p:spPr>
          <a:xfrm>
            <a:off x="2489200" y="4775200"/>
            <a:ext cx="2844800" cy="5588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9" name="lane2-t0"/>
          <p:cNvSpPr/>
          <p:nvPr/>
        </p:nvSpPr>
        <p:spPr>
          <a:xfrm>
            <a:off x="2641600" y="49276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面试官 Agent 单轮循环</a:t>
            </a:r>
            <a:endParaRPr lang="en-US" sz="1250" dirty="0"/>
          </a:p>
        </p:txBody>
      </p:sp>
      <p:sp>
        <p:nvSpPr>
          <p:cNvPr id="30" name="lane2-b1"/>
          <p:cNvSpPr/>
          <p:nvPr/>
        </p:nvSpPr>
        <p:spPr>
          <a:xfrm>
            <a:off x="5537200" y="4775200"/>
            <a:ext cx="2844800" cy="5588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1" name="lane2-t1"/>
          <p:cNvSpPr/>
          <p:nvPr/>
        </p:nvSpPr>
        <p:spPr>
          <a:xfrm>
            <a:off x="5689600" y="49276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工具表与执行模式</a:t>
            </a:r>
            <a:endParaRPr lang="en-US" sz="1250" dirty="0"/>
          </a:p>
        </p:txBody>
      </p:sp>
      <p:sp>
        <p:nvSpPr>
          <p:cNvPr id="32" name="lane2-b2"/>
          <p:cNvSpPr/>
          <p:nvPr/>
        </p:nvSpPr>
        <p:spPr>
          <a:xfrm>
            <a:off x="8585200" y="4775200"/>
            <a:ext cx="2844800" cy="5588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3" name="lane2-t2"/>
          <p:cNvSpPr/>
          <p:nvPr/>
        </p:nvSpPr>
        <p:spPr>
          <a:xfrm>
            <a:off x="8737600" y="49276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模型与语音调用</a:t>
            </a:r>
            <a:endParaRPr lang="en-US" sz="1250" dirty="0"/>
          </a:p>
        </p:txBody>
      </p:sp>
      <p:sp>
        <p:nvSpPr>
          <p:cNvPr id="34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35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36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选型与指标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仓库静态指标</a:t>
            </a:r>
            <a:endParaRPr lang="en-US" sz="3200" dirty="0"/>
          </a:p>
        </p:txBody>
      </p:sp>
      <p:sp>
        <p:nvSpPr>
          <p:cNvPr id="5" name="l1"/>
          <p:cNvSpPr/>
          <p:nvPr/>
        </p:nvSpPr>
        <p:spPr>
          <a:xfrm>
            <a:off x="609600" y="19304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关键技术选型</a:t>
            </a:r>
            <a:endParaRPr lang="en-US" sz="1300" dirty="0"/>
          </a:p>
        </p:txBody>
      </p:sp>
      <p:sp>
        <p:nvSpPr>
          <p:cNvPr id="6" name="s0"/>
          <p:cNvSpPr/>
          <p:nvPr/>
        </p:nvSpPr>
        <p:spPr>
          <a:xfrm>
            <a:off x="609600" y="2286000"/>
            <a:ext cx="5334000" cy="787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7" name="s0-t"/>
          <p:cNvSpPr/>
          <p:nvPr/>
        </p:nvSpPr>
        <p:spPr>
          <a:xfrm>
            <a:off x="838200" y="2413000"/>
            <a:ext cx="487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模型调用</a:t>
            </a:r>
            <a:endParaRPr lang="en-US" sz="1350" dirty="0"/>
          </a:p>
        </p:txBody>
      </p:sp>
      <p:sp>
        <p:nvSpPr>
          <p:cNvPr id="8" name="s0-b"/>
          <p:cNvSpPr/>
          <p:nvPr/>
        </p:nvSpPr>
        <p:spPr>
          <a:xfrm>
            <a:off x="838200" y="269240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 OpenAI 兼容 /chat/completions，不引入厂商专有 SDK</a:t>
            </a:r>
            <a:endParaRPr lang="en-US" sz="1150" dirty="0"/>
          </a:p>
        </p:txBody>
      </p:sp>
      <p:sp>
        <p:nvSpPr>
          <p:cNvPr id="9" name="s1"/>
          <p:cNvSpPr/>
          <p:nvPr/>
        </p:nvSpPr>
        <p:spPr>
          <a:xfrm>
            <a:off x="609600" y="3225800"/>
            <a:ext cx="5334000" cy="787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0" name="s1-t"/>
          <p:cNvSpPr/>
          <p:nvPr/>
        </p:nvSpPr>
        <p:spPr>
          <a:xfrm>
            <a:off x="838200" y="3352800"/>
            <a:ext cx="487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模型目录</a:t>
            </a:r>
            <a:endParaRPr lang="en-US" sz="1350" dirty="0"/>
          </a:p>
        </p:txBody>
      </p:sp>
      <p:sp>
        <p:nvSpPr>
          <p:cNvPr id="11" name="s1-b"/>
          <p:cNvSpPr/>
          <p:nvPr/>
        </p:nvSpPr>
        <p:spPr>
          <a:xfrm>
            <a:off x="838200" y="363220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仓库内离线快照：223 家 provider、8170 个模型，运行期只读</a:t>
            </a:r>
            <a:endParaRPr lang="en-US" sz="1150" dirty="0"/>
          </a:p>
        </p:txBody>
      </p:sp>
      <p:sp>
        <p:nvSpPr>
          <p:cNvPr id="12" name="s2"/>
          <p:cNvSpPr/>
          <p:nvPr/>
        </p:nvSpPr>
        <p:spPr>
          <a:xfrm>
            <a:off x="609600" y="4165600"/>
            <a:ext cx="5334000" cy="787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3" name="s2-t"/>
          <p:cNvSpPr/>
          <p:nvPr/>
        </p:nvSpPr>
        <p:spPr>
          <a:xfrm>
            <a:off x="838200" y="4292600"/>
            <a:ext cx="487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知识检索</a:t>
            </a:r>
            <a:endParaRPr lang="en-US" sz="1350" dirty="0"/>
          </a:p>
        </p:txBody>
      </p:sp>
      <p:sp>
        <p:nvSpPr>
          <p:cNvPr id="14" name="s2-b"/>
          <p:cNvSpPr/>
          <p:nvPr/>
        </p:nvSpPr>
        <p:spPr>
          <a:xfrm>
            <a:off x="838200" y="457200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按岗位分片 ＋ 来源标识；无命中即标「依据不足」</a:t>
            </a:r>
            <a:endParaRPr lang="en-US" sz="1150" dirty="0"/>
          </a:p>
        </p:txBody>
      </p:sp>
      <p:sp>
        <p:nvSpPr>
          <p:cNvPr id="15" name="s3"/>
          <p:cNvSpPr/>
          <p:nvPr/>
        </p:nvSpPr>
        <p:spPr>
          <a:xfrm>
            <a:off x="609600" y="5105400"/>
            <a:ext cx="5334000" cy="787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6" name="s3-t"/>
          <p:cNvSpPr/>
          <p:nvPr/>
        </p:nvSpPr>
        <p:spPr>
          <a:xfrm>
            <a:off x="838200" y="5232400"/>
            <a:ext cx="487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评分一致性</a:t>
            </a:r>
            <a:endParaRPr lang="en-US" sz="1350" dirty="0"/>
          </a:p>
        </p:txBody>
      </p:sp>
      <p:sp>
        <p:nvSpPr>
          <p:cNvPr id="17" name="s3-b"/>
          <p:cNvSpPr/>
          <p:nvPr/>
        </p:nvSpPr>
        <p:spPr>
          <a:xfrm>
            <a:off x="838200" y="5486400"/>
            <a:ext cx="487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复评 5 份：平均绝对偏差 3.45 分，单点最大偏差 14 分；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覆盖率 100% 达标，判定不通过，单点越界已人工复核</a:t>
            </a:r>
            <a:endParaRPr lang="en-US" sz="1050" dirty="0"/>
          </a:p>
        </p:txBody>
      </p:sp>
      <p:sp>
        <p:nvSpPr>
          <p:cNvPr id="18" name="r1"/>
          <p:cNvSpPr/>
          <p:nvPr/>
        </p:nvSpPr>
        <p:spPr>
          <a:xfrm>
            <a:off x="6248400" y="19304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规模与验证</a:t>
            </a:r>
            <a:endParaRPr lang="en-US" sz="1300" dirty="0"/>
          </a:p>
        </p:txBody>
      </p:sp>
      <p:sp>
        <p:nvSpPr>
          <p:cNvPr id="19" name="m0"/>
          <p:cNvSpPr/>
          <p:nvPr/>
        </p:nvSpPr>
        <p:spPr>
          <a:xfrm>
            <a:off x="6248400" y="2286000"/>
            <a:ext cx="5334000" cy="787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0" name="m0-n"/>
          <p:cNvSpPr/>
          <p:nvPr/>
        </p:nvSpPr>
        <p:spPr>
          <a:xfrm>
            <a:off x="6502400" y="24384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 / 101</a:t>
            </a:r>
            <a:endParaRPr lang="en-US" sz="2200" dirty="0"/>
          </a:p>
        </p:txBody>
      </p:sp>
      <p:sp>
        <p:nvSpPr>
          <p:cNvPr id="21" name="m0-d"/>
          <p:cNvSpPr/>
          <p:nvPr/>
        </p:nvSpPr>
        <p:spPr>
          <a:xfrm>
            <a:off x="9042400" y="25400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后端路由装饰器 / 去重路径</a:t>
            </a:r>
            <a:endParaRPr lang="en-US" sz="1200" dirty="0"/>
          </a:p>
        </p:txBody>
      </p:sp>
      <p:sp>
        <p:nvSpPr>
          <p:cNvPr id="22" name="m1"/>
          <p:cNvSpPr/>
          <p:nvPr/>
        </p:nvSpPr>
        <p:spPr>
          <a:xfrm>
            <a:off x="6248400" y="3225800"/>
            <a:ext cx="5334000" cy="787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3" name="m1-n"/>
          <p:cNvSpPr/>
          <p:nvPr/>
        </p:nvSpPr>
        <p:spPr>
          <a:xfrm>
            <a:off x="6502400" y="33782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45</a:t>
            </a:r>
            <a:endParaRPr lang="en-US" sz="2200" dirty="0"/>
          </a:p>
        </p:txBody>
      </p:sp>
      <p:sp>
        <p:nvSpPr>
          <p:cNvPr id="24" name="m1-d"/>
          <p:cNvSpPr/>
          <p:nvPr/>
        </p:nvSpPr>
        <p:spPr>
          <a:xfrm>
            <a:off x="9042400" y="34798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前端页面组件 / story 文件</a:t>
            </a:r>
            <a:endParaRPr lang="en-US" sz="1200" dirty="0"/>
          </a:p>
        </p:txBody>
      </p:sp>
      <p:sp>
        <p:nvSpPr>
          <p:cNvPr id="25" name="m2"/>
          <p:cNvSpPr/>
          <p:nvPr/>
        </p:nvSpPr>
        <p:spPr>
          <a:xfrm>
            <a:off x="6248400" y="4165600"/>
            <a:ext cx="5334000" cy="787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6" name="m2-n"/>
          <p:cNvSpPr/>
          <p:nvPr/>
        </p:nvSpPr>
        <p:spPr>
          <a:xfrm>
            <a:off x="6502400" y="43180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583 / 130 / 649</a:t>
            </a:r>
            <a:endParaRPr lang="en-US" sz="2200" dirty="0"/>
          </a:p>
        </p:txBody>
      </p:sp>
      <p:sp>
        <p:nvSpPr>
          <p:cNvPr id="27" name="m2-d"/>
          <p:cNvSpPr/>
          <p:nvPr/>
        </p:nvSpPr>
        <p:spPr>
          <a:xfrm>
            <a:off x="9042400" y="44196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 / 运行体 / 前端测试数</a:t>
            </a:r>
            <a:endParaRPr lang="en-US" sz="1200" dirty="0"/>
          </a:p>
        </p:txBody>
      </p:sp>
      <p:sp>
        <p:nvSpPr>
          <p:cNvPr id="28" name="m3"/>
          <p:cNvSpPr/>
          <p:nvPr/>
        </p:nvSpPr>
        <p:spPr>
          <a:xfrm>
            <a:off x="6248400" y="5105400"/>
            <a:ext cx="5334000" cy="7874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9" name="m3-n"/>
          <p:cNvSpPr/>
          <p:nvPr/>
        </p:nvSpPr>
        <p:spPr>
          <a:xfrm>
            <a:off x="6502400" y="5257800"/>
            <a:ext cx="241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m3-d"/>
          <p:cNvSpPr/>
          <p:nvPr/>
        </p:nvSpPr>
        <p:spPr>
          <a:xfrm>
            <a:off x="9042400" y="53594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仓库质量门禁脚本</a:t>
            </a:r>
            <a:endParaRPr lang="en-US" sz="1200" dirty="0"/>
          </a:p>
        </p:txBody>
      </p:sp>
      <p:sp>
        <p:nvSpPr>
          <p:cNvPr id="31" name="m3-note"/>
          <p:cNvSpPr/>
          <p:nvPr/>
        </p:nvSpPr>
        <p:spPr>
          <a:xfrm>
            <a:off x="6248400" y="5918200"/>
            <a:ext cx="533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测量：grep @router、pytest -q、uv run pytest、pnpm test（2026-10-10）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门禁 5 个，提交前强制运行</a:t>
            </a:r>
            <a:endParaRPr lang="en-US" sz="850" dirty="0"/>
          </a:p>
        </p:txBody>
      </p:sp>
      <p:sp>
        <p:nvSpPr>
          <p:cNvPr id="32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33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34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系统构成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一套系统从数据底座到面试闭环</a:t>
            </a:r>
            <a:endParaRPr lang="en-US" sz="3000" dirty="0"/>
          </a:p>
        </p:txBody>
      </p:sp>
      <p:sp>
        <p:nvSpPr>
          <p:cNvPr id="5" name="rw0"/>
          <p:cNvSpPr/>
          <p:nvPr/>
        </p:nvSpPr>
        <p:spPr>
          <a:xfrm>
            <a:off x="609600" y="1905000"/>
            <a:ext cx="4318000" cy="736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rw0-n"/>
          <p:cNvSpPr/>
          <p:nvPr/>
        </p:nvSpPr>
        <p:spPr>
          <a:xfrm>
            <a:off x="812800" y="2006600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角色权限与访问控制</a:t>
            </a:r>
            <a:endParaRPr lang="en-US" sz="1250" dirty="0"/>
          </a:p>
        </p:txBody>
      </p:sp>
      <p:sp>
        <p:nvSpPr>
          <p:cNvPr id="7" name="rw0-b"/>
          <p:cNvSpPr/>
          <p:nvPr/>
        </p:nvSpPr>
        <p:spPr>
          <a:xfrm>
            <a:off x="812800" y="22606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会话与报告共用同一判定，报告默认仅本人可见</a:t>
            </a:r>
            <a:endParaRPr lang="en-US" sz="950" dirty="0"/>
          </a:p>
        </p:txBody>
      </p:sp>
      <p:sp>
        <p:nvSpPr>
          <p:cNvPr id="8" name="rw1"/>
          <p:cNvSpPr/>
          <p:nvPr/>
        </p:nvSpPr>
        <p:spPr>
          <a:xfrm>
            <a:off x="609600" y="2768600"/>
            <a:ext cx="4318000" cy="736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9" name="rw1-n"/>
          <p:cNvSpPr/>
          <p:nvPr/>
        </p:nvSpPr>
        <p:spPr>
          <a:xfrm>
            <a:off x="812800" y="2870200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多模型接口与密钥托管</a:t>
            </a:r>
            <a:endParaRPr lang="en-US" sz="1250" dirty="0"/>
          </a:p>
        </p:txBody>
      </p:sp>
      <p:sp>
        <p:nvSpPr>
          <p:cNvPr id="10" name="rw1-b"/>
          <p:cNvSpPr/>
          <p:nvPr/>
        </p:nvSpPr>
        <p:spPr>
          <a:xfrm>
            <a:off x="812800" y="31242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同一套加密托管与只写不回显，同时服务面试链路</a:t>
            </a:r>
            <a:endParaRPr lang="en-US" sz="950" dirty="0"/>
          </a:p>
        </p:txBody>
      </p:sp>
      <p:sp>
        <p:nvSpPr>
          <p:cNvPr id="11" name="rw2"/>
          <p:cNvSpPr/>
          <p:nvPr/>
        </p:nvSpPr>
        <p:spPr>
          <a:xfrm>
            <a:off x="609600" y="3632200"/>
            <a:ext cx="4318000" cy="736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2" name="rw2-n"/>
          <p:cNvSpPr/>
          <p:nvPr/>
        </p:nvSpPr>
        <p:spPr>
          <a:xfrm>
            <a:off x="812800" y="3733800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运行体与执行模式</a:t>
            </a:r>
            <a:endParaRPr lang="en-US" sz="1250" dirty="0"/>
          </a:p>
        </p:txBody>
      </p:sp>
      <p:sp>
        <p:nvSpPr>
          <p:cNvPr id="13" name="rw2-b"/>
          <p:cNvSpPr/>
          <p:nvPr/>
        </p:nvSpPr>
        <p:spPr>
          <a:xfrm>
            <a:off x="812800" y="39878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面试官由同一运行体承载，共用单轮循环与执行模式约束</a:t>
            </a:r>
            <a:endParaRPr lang="en-US" sz="950" dirty="0"/>
          </a:p>
        </p:txBody>
      </p:sp>
      <p:sp>
        <p:nvSpPr>
          <p:cNvPr id="14" name="rw3"/>
          <p:cNvSpPr/>
          <p:nvPr/>
        </p:nvSpPr>
        <p:spPr>
          <a:xfrm>
            <a:off x="609600" y="4495800"/>
            <a:ext cx="4318000" cy="736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5" name="rw3-n"/>
          <p:cNvSpPr/>
          <p:nvPr/>
        </p:nvSpPr>
        <p:spPr>
          <a:xfrm>
            <a:off x="812800" y="4597400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待确认改动与审批</a:t>
            </a:r>
            <a:endParaRPr lang="en-US" sz="1250" dirty="0"/>
          </a:p>
        </p:txBody>
      </p:sp>
      <p:sp>
        <p:nvSpPr>
          <p:cNvPr id="16" name="rw3-b"/>
          <p:cNvSpPr/>
          <p:nvPr/>
        </p:nvSpPr>
        <p:spPr>
          <a:xfrm>
            <a:off x="812800" y="48514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「生成练习计划」等写操作共用待确认与审批语义</a:t>
            </a:r>
            <a:endParaRPr lang="en-US" sz="950" dirty="0"/>
          </a:p>
        </p:txBody>
      </p:sp>
      <p:sp>
        <p:nvSpPr>
          <p:cNvPr id="17" name="rw4"/>
          <p:cNvSpPr/>
          <p:nvPr/>
        </p:nvSpPr>
        <p:spPr>
          <a:xfrm>
            <a:off x="609600" y="5359400"/>
            <a:ext cx="4318000" cy="736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8" name="rw4-n"/>
          <p:cNvSpPr/>
          <p:nvPr/>
        </p:nvSpPr>
        <p:spPr>
          <a:xfrm>
            <a:off x="812800" y="5461000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不可变版本、幂等与审计</a:t>
            </a:r>
            <a:endParaRPr lang="en-US" sz="1250" dirty="0"/>
          </a:p>
        </p:txBody>
      </p:sp>
      <p:sp>
        <p:nvSpPr>
          <p:cNvPr id="19" name="rw4-b"/>
          <p:cNvSpPr/>
          <p:nvPr/>
        </p:nvSpPr>
        <p:spPr>
          <a:xfrm>
            <a:off x="812800" y="57150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上下文以版本快照冻结；作答提交共用幂等键</a:t>
            </a:r>
            <a:endParaRPr lang="en-US" sz="950" dirty="0"/>
          </a:p>
        </p:txBody>
      </p:sp>
      <p:sp>
        <p:nvSpPr>
          <p:cNvPr id="20" name="hard-t"/>
          <p:cNvSpPr/>
          <p:nvPr/>
        </p:nvSpPr>
        <p:spPr>
          <a:xfrm>
            <a:off x="6248400" y="19050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工程加固</a:t>
            </a:r>
            <a:endParaRPr lang="en-US" sz="1300" dirty="0"/>
          </a:p>
        </p:txBody>
      </p:sp>
      <p:sp>
        <p:nvSpPr>
          <p:cNvPr id="21" name="hard0"/>
          <p:cNvSpPr/>
          <p:nvPr/>
        </p:nvSpPr>
        <p:spPr>
          <a:xfrm>
            <a:off x="6248400" y="2235200"/>
            <a:ext cx="5334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2" name="hard0-t"/>
          <p:cNvSpPr/>
          <p:nvPr/>
        </p:nvSpPr>
        <p:spPr>
          <a:xfrm>
            <a:off x="6426200" y="22860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 截图识别</a:t>
            </a:r>
            <a:endParaRPr lang="en-US" sz="1100" dirty="0"/>
          </a:p>
        </p:txBody>
      </p:sp>
      <p:sp>
        <p:nvSpPr>
          <p:cNvPr id="23" name="hard0-b"/>
          <p:cNvSpPr/>
          <p:nvPr/>
        </p:nvSpPr>
        <p:spPr>
          <a:xfrm>
            <a:off x="6426200" y="25019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真实视觉模型；不支持看图如实返回 MODEL_NO_VISION，不伪造草案</a:t>
            </a:r>
            <a:endParaRPr lang="en-US" sz="950" dirty="0"/>
          </a:p>
        </p:txBody>
      </p:sp>
      <p:sp>
        <p:nvSpPr>
          <p:cNvPr id="24" name="hard1"/>
          <p:cNvSpPr/>
          <p:nvPr/>
        </p:nvSpPr>
        <p:spPr>
          <a:xfrm>
            <a:off x="6248400" y="2768600"/>
            <a:ext cx="5334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5" name="hard1-t"/>
          <p:cNvSpPr/>
          <p:nvPr/>
        </p:nvSpPr>
        <p:spPr>
          <a:xfrm>
            <a:off x="6426200" y="28194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 一键微调</a:t>
            </a:r>
            <a:endParaRPr lang="en-US" sz="1100" dirty="0"/>
          </a:p>
        </p:txBody>
      </p:sp>
      <p:sp>
        <p:nvSpPr>
          <p:cNvPr id="26" name="hard1-b"/>
          <p:cNvSpPr/>
          <p:nvPr/>
        </p:nvSpPr>
        <p:spPr>
          <a:xfrm>
            <a:off x="6426200" y="30353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创建绑定该 JD 的真实 Agent run，进入 Run 面板接手</a:t>
            </a:r>
            <a:endParaRPr lang="en-US" sz="950" dirty="0"/>
          </a:p>
        </p:txBody>
      </p:sp>
      <p:sp>
        <p:nvSpPr>
          <p:cNvPr id="27" name="hard2"/>
          <p:cNvSpPr/>
          <p:nvPr/>
        </p:nvSpPr>
        <p:spPr>
          <a:xfrm>
            <a:off x="6248400" y="3302000"/>
            <a:ext cx="5334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8" name="hard2-t"/>
          <p:cNvSpPr/>
          <p:nvPr/>
        </p:nvSpPr>
        <p:spPr>
          <a:xfrm>
            <a:off x="6426200" y="33528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使用引导</a:t>
            </a:r>
            <a:endParaRPr lang="en-US" sz="1100" dirty="0"/>
          </a:p>
        </p:txBody>
      </p:sp>
      <p:sp>
        <p:nvSpPr>
          <p:cNvPr id="29" name="hard2-b"/>
          <p:cNvSpPr/>
          <p:nvPr/>
        </p:nvSpPr>
        <p:spPr>
          <a:xfrm>
            <a:off x="6426200" y="35687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三处界面 × 四态；未配置或凭据失效时用引导取代输入框，不放行对话</a:t>
            </a:r>
            <a:endParaRPr lang="en-US" sz="950" dirty="0"/>
          </a:p>
        </p:txBody>
      </p:sp>
      <p:sp>
        <p:nvSpPr>
          <p:cNvPr id="30" name="hard3"/>
          <p:cNvSpPr/>
          <p:nvPr/>
        </p:nvSpPr>
        <p:spPr>
          <a:xfrm>
            <a:off x="6248400" y="3835400"/>
            <a:ext cx="5334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31" name="hard3-t"/>
          <p:cNvSpPr/>
          <p:nvPr/>
        </p:nvSpPr>
        <p:spPr>
          <a:xfrm>
            <a:off x="6426200" y="38862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运行失败不静默</a:t>
            </a:r>
            <a:endParaRPr lang="en-US" sz="1100" dirty="0"/>
          </a:p>
        </p:txBody>
      </p:sp>
      <p:sp>
        <p:nvSpPr>
          <p:cNvPr id="32" name="hard3-b"/>
          <p:cNvSpPr/>
          <p:nvPr/>
        </p:nvSpPr>
        <p:spPr>
          <a:xfrm>
            <a:off x="6426200" y="41021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结构化错误：类别 / provider / model / 掩码尾号，附去更新 Key 与重试</a:t>
            </a:r>
            <a:endParaRPr lang="en-US" sz="950" dirty="0"/>
          </a:p>
        </p:txBody>
      </p:sp>
      <p:sp>
        <p:nvSpPr>
          <p:cNvPr id="33" name="hard4"/>
          <p:cNvSpPr/>
          <p:nvPr/>
        </p:nvSpPr>
        <p:spPr>
          <a:xfrm>
            <a:off x="6248400" y="4368800"/>
            <a:ext cx="5334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34" name="hard4-t"/>
          <p:cNvSpPr/>
          <p:nvPr/>
        </p:nvSpPr>
        <p:spPr>
          <a:xfrm>
            <a:off x="6426200" y="44196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会话历史与会话绑定</a:t>
            </a:r>
            <a:endParaRPr lang="en-US" sz="1100" dirty="0"/>
          </a:p>
        </p:txBody>
      </p:sp>
      <p:sp>
        <p:nvSpPr>
          <p:cNvPr id="35" name="hard4-b"/>
          <p:cNvSpPr/>
          <p:nvPr/>
        </p:nvSpPr>
        <p:spPr>
          <a:xfrm>
            <a:off x="6426200" y="46355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按话题标题与相对时间分组、行内无会话 ID；运行体不再猜 session_id</a:t>
            </a:r>
            <a:endParaRPr lang="en-US" sz="950" dirty="0"/>
          </a:p>
        </p:txBody>
      </p:sp>
      <p:sp>
        <p:nvSpPr>
          <p:cNvPr id="36" name="hard5"/>
          <p:cNvSpPr/>
          <p:nvPr/>
        </p:nvSpPr>
        <p:spPr>
          <a:xfrm>
            <a:off x="6248400" y="4902200"/>
            <a:ext cx="5334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37" name="hard5-t"/>
          <p:cNvSpPr/>
          <p:nvPr/>
        </p:nvSpPr>
        <p:spPr>
          <a:xfrm>
            <a:off x="6426200" y="49530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宽视口工作区</a:t>
            </a:r>
            <a:endParaRPr lang="en-US" sz="1100" dirty="0"/>
          </a:p>
        </p:txBody>
      </p:sp>
      <p:sp>
        <p:nvSpPr>
          <p:cNvPr id="38" name="hard5-b"/>
          <p:cNvSpPr/>
          <p:nvPr/>
        </p:nvSpPr>
        <p:spPr>
          <a:xfrm>
            <a:off x="6426200" y="51689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工作区页面吃满可用宽度；阅读与表单页保留 1152px 上限并居中</a:t>
            </a:r>
            <a:endParaRPr lang="en-US" sz="950" dirty="0"/>
          </a:p>
        </p:txBody>
      </p:sp>
      <p:sp>
        <p:nvSpPr>
          <p:cNvPr id="39" name="hard6"/>
          <p:cNvSpPr/>
          <p:nvPr/>
        </p:nvSpPr>
        <p:spPr>
          <a:xfrm>
            <a:off x="6248400" y="5435600"/>
            <a:ext cx="53340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40" name="hard6-t"/>
          <p:cNvSpPr/>
          <p:nvPr/>
        </p:nvSpPr>
        <p:spPr>
          <a:xfrm>
            <a:off x="6426200" y="54864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质量与安全</a:t>
            </a:r>
            <a:endParaRPr lang="en-US" sz="1100" dirty="0"/>
          </a:p>
        </p:txBody>
      </p:sp>
      <p:sp>
        <p:nvSpPr>
          <p:cNvPr id="41" name="hard6-b"/>
          <p:cNvSpPr/>
          <p:nvPr/>
        </p:nvSpPr>
        <p:spPr>
          <a:xfrm>
            <a:off x="6426200" y="5702300"/>
            <a:ext cx="497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门禁拦截假实现与凭据泄露、启动缺配置拒绝启动、构建排除 .env</a:t>
            </a:r>
            <a:endParaRPr lang="en-US" sz="950" dirty="0"/>
          </a:p>
        </p:txBody>
      </p:sp>
      <p:sp>
        <p:nvSpPr>
          <p:cNvPr id="42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3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44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差异化与创新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全链路实体数据打通：AI 直接操作每一类实体</a:t>
            </a:r>
            <a:endParaRPr lang="en-US" sz="3000" dirty="0"/>
          </a:p>
        </p:txBody>
      </p:sp>
      <p:sp>
        <p:nvSpPr>
          <p:cNvPr id="5" name="col0"/>
          <p:cNvSpPr/>
          <p:nvPr/>
        </p:nvSpPr>
        <p:spPr>
          <a:xfrm>
            <a:off x="609600" y="2032000"/>
            <a:ext cx="3454400" cy="193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col0-n"/>
          <p:cNvSpPr/>
          <p:nvPr/>
        </p:nvSpPr>
        <p:spPr>
          <a:xfrm>
            <a:off x="863600" y="2209800"/>
            <a:ext cx="294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主档·简历·岗位·面试·练习，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五类实体都有 AI 的读写路径</a:t>
            </a:r>
            <a:endParaRPr lang="en-US" sz="1400" dirty="0"/>
          </a:p>
        </p:txBody>
      </p:sp>
      <p:sp>
        <p:nvSpPr>
          <p:cNvPr id="7" name="col0-r"/>
          <p:cNvSpPr/>
          <p:nvPr/>
        </p:nvSpPr>
        <p:spPr>
          <a:xfrm>
            <a:off x="863600" y="2921000"/>
            <a:ext cx="7620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8" name="col0-b"/>
          <p:cNvSpPr/>
          <p:nvPr/>
        </p:nvSpPr>
        <p:spPr>
          <a:xfrm>
            <a:off x="863600" y="3073400"/>
            <a:ext cx="294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写操作一律走待确认与审批，AI 不是外挂聊天框。</a:t>
            </a:r>
            <a:endParaRPr lang="en-US" sz="1200" dirty="0"/>
          </a:p>
        </p:txBody>
      </p:sp>
      <p:sp>
        <p:nvSpPr>
          <p:cNvPr id="9" name="col1"/>
          <p:cNvSpPr/>
          <p:nvPr/>
        </p:nvSpPr>
        <p:spPr>
          <a:xfrm>
            <a:off x="4368800" y="2032000"/>
            <a:ext cx="3454400" cy="193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0" name="col1-n"/>
          <p:cNvSpPr/>
          <p:nvPr/>
        </p:nvSpPr>
        <p:spPr>
          <a:xfrm>
            <a:off x="4622800" y="2209800"/>
            <a:ext cx="294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每次落库都可回溯</a:t>
            </a:r>
            <a:endParaRPr lang="en-US" sz="1400" dirty="0"/>
          </a:p>
        </p:txBody>
      </p:sp>
      <p:sp>
        <p:nvSpPr>
          <p:cNvPr id="11" name="col1-r"/>
          <p:cNvSpPr/>
          <p:nvPr/>
        </p:nvSpPr>
        <p:spPr>
          <a:xfrm>
            <a:off x="4622800" y="2921000"/>
            <a:ext cx="7620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2" name="col1-b"/>
          <p:cNvSpPr/>
          <p:nvPr/>
        </p:nvSpPr>
        <p:spPr>
          <a:xfrm>
            <a:off x="4622800" y="3073400"/>
            <a:ext cx="294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补丁预览 → 审批 → 生成新版本；会话、轮次、运行错误在同一套记录里。</a:t>
            </a:r>
            <a:endParaRPr lang="en-US" sz="1200" dirty="0"/>
          </a:p>
        </p:txBody>
      </p:sp>
      <p:sp>
        <p:nvSpPr>
          <p:cNvPr id="13" name="col2"/>
          <p:cNvSpPr/>
          <p:nvPr/>
        </p:nvSpPr>
        <p:spPr>
          <a:xfrm>
            <a:off x="8128000" y="2032000"/>
            <a:ext cx="3454400" cy="19304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4" name="col2-n"/>
          <p:cNvSpPr/>
          <p:nvPr/>
        </p:nvSpPr>
        <p:spPr>
          <a:xfrm>
            <a:off x="8382000" y="2209800"/>
            <a:ext cx="294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模型、密钥、运行体、权限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沿用同一套托管</a:t>
            </a:r>
            <a:endParaRPr lang="en-US" sz="1400" dirty="0"/>
          </a:p>
        </p:txBody>
      </p:sp>
      <p:sp>
        <p:nvSpPr>
          <p:cNvPr id="15" name="col2-r"/>
          <p:cNvSpPr/>
          <p:nvPr/>
        </p:nvSpPr>
        <p:spPr>
          <a:xfrm>
            <a:off x="8382000" y="2921000"/>
            <a:ext cx="762000" cy="381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16" name="col2-b"/>
          <p:cNvSpPr/>
          <p:nvPr/>
        </p:nvSpPr>
        <p:spPr>
          <a:xfrm>
            <a:off x="8382000" y="3073400"/>
            <a:ext cx="294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的行为受同一套执行模式与审计约束，不走旁路。</a:t>
            </a:r>
            <a:endParaRPr lang="en-US" sz="1200" dirty="0"/>
          </a:p>
        </p:txBody>
      </p:sp>
      <p:sp>
        <p:nvSpPr>
          <p:cNvPr id="17" name="cl"/>
          <p:cNvSpPr/>
          <p:nvPr/>
        </p:nvSpPr>
        <p:spPr>
          <a:xfrm>
            <a:off x="609600" y="41910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三条可信性约束（写进产品要求，不靠自觉）</a:t>
            </a:r>
            <a:endParaRPr lang="en-US" sz="1300" dirty="0"/>
          </a:p>
        </p:txBody>
      </p:sp>
      <p:sp>
        <p:nvSpPr>
          <p:cNvPr id="18" name="cn0-k"/>
          <p:cNvSpPr/>
          <p:nvPr/>
        </p:nvSpPr>
        <p:spPr>
          <a:xfrm>
            <a:off x="609600" y="45466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检索无依据</a:t>
            </a:r>
            <a:endParaRPr lang="en-US" sz="1250" dirty="0"/>
          </a:p>
        </p:txBody>
      </p:sp>
      <p:sp>
        <p:nvSpPr>
          <p:cNvPr id="19" name="cn0-v"/>
          <p:cNvSpPr/>
          <p:nvPr/>
        </p:nvSpPr>
        <p:spPr>
          <a:xfrm>
            <a:off x="2387600" y="4546600"/>
            <a:ext cx="919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标「依据不足」，不伪造知识库引用</a:t>
            </a:r>
            <a:endParaRPr lang="en-US" sz="1250" dirty="0"/>
          </a:p>
        </p:txBody>
      </p:sp>
      <p:sp>
        <p:nvSpPr>
          <p:cNvPr id="20" name="cn1-k"/>
          <p:cNvSpPr/>
          <p:nvPr/>
        </p:nvSpPr>
        <p:spPr>
          <a:xfrm>
            <a:off x="609600" y="50038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纯文本场次</a:t>
            </a:r>
            <a:endParaRPr lang="en-US" sz="1250" dirty="0"/>
          </a:p>
        </p:txBody>
      </p:sp>
      <p:sp>
        <p:nvSpPr>
          <p:cNvPr id="21" name="cn1-v"/>
          <p:cNvSpPr/>
          <p:nvPr/>
        </p:nvSpPr>
        <p:spPr>
          <a:xfrm>
            <a:off x="2387600" y="5003800"/>
            <a:ext cx="919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语速与清晰度标「不适用」，不虚构音频指标</a:t>
            </a:r>
            <a:endParaRPr lang="en-US" sz="1250" dirty="0"/>
          </a:p>
        </p:txBody>
      </p:sp>
      <p:sp>
        <p:nvSpPr>
          <p:cNvPr id="22" name="cn2-k"/>
          <p:cNvSpPr/>
          <p:nvPr/>
        </p:nvSpPr>
        <p:spPr>
          <a:xfrm>
            <a:off x="609600" y="54610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口径不可比</a:t>
            </a:r>
            <a:endParaRPr lang="en-US" sz="1250" dirty="0"/>
          </a:p>
        </p:txBody>
      </p:sp>
      <p:sp>
        <p:nvSpPr>
          <p:cNvPr id="23" name="cn2-v"/>
          <p:cNvSpPr/>
          <p:nvPr/>
        </p:nvSpPr>
        <p:spPr>
          <a:xfrm>
            <a:off x="2387600" y="5461000"/>
            <a:ext cx="919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不连成同一条成长曲线，只并列展示</a:t>
            </a:r>
            <a:endParaRPr lang="en-US" sz="1250" dirty="0"/>
          </a:p>
        </p:txBody>
      </p:sp>
      <p:sp>
        <p:nvSpPr>
          <p:cNvPr id="24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25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26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交付与进展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系统能力与面试闭环均已交付</a:t>
            </a:r>
            <a:endParaRPr lang="en-US" sz="3200" dirty="0"/>
          </a:p>
        </p:txBody>
      </p:sp>
      <p:sp>
        <p:nvSpPr>
          <p:cNvPr id="5" name="new3"/>
          <p:cNvSpPr/>
          <p:nvPr/>
        </p:nvSpPr>
        <p:spPr>
          <a:xfrm>
            <a:off x="9931400" y="1041400"/>
            <a:ext cx="1651000" cy="304800"/>
          </a:xfrm>
          <a:prstGeom prst="rect">
            <a:avLst/>
          </a:prstGeom>
          <a:solidFill>
            <a:srgbClr val="1E2BFA"/>
          </a:solidFill>
          <a:ln w="12700">
            <a:solidFill>
              <a:srgbClr val="1E2BFA"/>
            </a:solidFill>
            <a:prstDash val="solid"/>
          </a:ln>
        </p:spPr>
      </p:sp>
      <p:sp>
        <p:nvSpPr>
          <p:cNvPr id="6" name="new3-t"/>
          <p:cNvSpPr/>
          <p:nvPr/>
        </p:nvSpPr>
        <p:spPr>
          <a:xfrm>
            <a:off x="10033000" y="10922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DFAE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交付状态</a:t>
            </a:r>
            <a:endParaRPr lang="en-US" sz="1100" dirty="0"/>
          </a:p>
        </p:txBody>
      </p:sp>
      <p:sp>
        <p:nvSpPr>
          <p:cNvPr id="7" name="sl0"/>
          <p:cNvSpPr/>
          <p:nvPr/>
        </p:nvSpPr>
        <p:spPr>
          <a:xfrm>
            <a:off x="609600" y="2032000"/>
            <a:ext cx="10972800" cy="1117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8" name="sl0-n"/>
          <p:cNvSpPr/>
          <p:nvPr/>
        </p:nvSpPr>
        <p:spPr>
          <a:xfrm>
            <a:off x="838200" y="22606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平台能力 · 已交付</a:t>
            </a:r>
            <a:endParaRPr lang="en-US" sz="1300" dirty="0"/>
          </a:p>
        </p:txBody>
      </p:sp>
      <p:sp>
        <p:nvSpPr>
          <p:cNvPr id="9" name="sl0-b0"/>
          <p:cNvSpPr/>
          <p:nvPr/>
        </p:nvSpPr>
        <p:spPr>
          <a:xfrm>
            <a:off x="2514600" y="238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0" name="sl0-t0"/>
          <p:cNvSpPr/>
          <p:nvPr/>
        </p:nvSpPr>
        <p:spPr>
          <a:xfrm>
            <a:off x="2616200" y="2489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事实与版本流</a:t>
            </a:r>
            <a:endParaRPr lang="en-US" sz="1000" dirty="0"/>
          </a:p>
        </p:txBody>
      </p:sp>
      <p:sp>
        <p:nvSpPr>
          <p:cNvPr id="11" name="sl0-b1"/>
          <p:cNvSpPr/>
          <p:nvPr/>
        </p:nvSpPr>
        <p:spPr>
          <a:xfrm>
            <a:off x="4292600" y="238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2" name="sl0-t1"/>
          <p:cNvSpPr/>
          <p:nvPr/>
        </p:nvSpPr>
        <p:spPr>
          <a:xfrm>
            <a:off x="4394200" y="2489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改动审批闭环</a:t>
            </a:r>
            <a:endParaRPr lang="en-US" sz="1000" dirty="0"/>
          </a:p>
        </p:txBody>
      </p:sp>
      <p:sp>
        <p:nvSpPr>
          <p:cNvPr id="13" name="sl0-b2"/>
          <p:cNvSpPr/>
          <p:nvPr/>
        </p:nvSpPr>
        <p:spPr>
          <a:xfrm>
            <a:off x="6070600" y="238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4" name="sl0-t2"/>
          <p:cNvSpPr/>
          <p:nvPr/>
        </p:nvSpPr>
        <p:spPr>
          <a:xfrm>
            <a:off x="6172200" y="2489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 识别与微调</a:t>
            </a:r>
            <a:endParaRPr lang="en-US" sz="1000" dirty="0"/>
          </a:p>
        </p:txBody>
      </p:sp>
      <p:sp>
        <p:nvSpPr>
          <p:cNvPr id="15" name="sl0-b3"/>
          <p:cNvSpPr/>
          <p:nvPr/>
        </p:nvSpPr>
        <p:spPr>
          <a:xfrm>
            <a:off x="7848600" y="238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6" name="sl0-t3"/>
          <p:cNvSpPr/>
          <p:nvPr/>
        </p:nvSpPr>
        <p:spPr>
          <a:xfrm>
            <a:off x="7950200" y="2489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运行时</a:t>
            </a:r>
            <a:endParaRPr lang="en-US" sz="1000" dirty="0"/>
          </a:p>
        </p:txBody>
      </p:sp>
      <p:sp>
        <p:nvSpPr>
          <p:cNvPr id="17" name="sl0-b4"/>
          <p:cNvSpPr/>
          <p:nvPr/>
        </p:nvSpPr>
        <p:spPr>
          <a:xfrm>
            <a:off x="9626600" y="238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8" name="sl0-t4"/>
          <p:cNvSpPr/>
          <p:nvPr/>
        </p:nvSpPr>
        <p:spPr>
          <a:xfrm>
            <a:off x="9728200" y="2489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权限与密钥托管</a:t>
            </a:r>
            <a:endParaRPr lang="en-US" sz="1000" dirty="0"/>
          </a:p>
        </p:txBody>
      </p:sp>
      <p:sp>
        <p:nvSpPr>
          <p:cNvPr id="19" name="sl1"/>
          <p:cNvSpPr/>
          <p:nvPr/>
        </p:nvSpPr>
        <p:spPr>
          <a:xfrm>
            <a:off x="609600" y="3302000"/>
            <a:ext cx="10972800" cy="11176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0" name="sl1-n"/>
          <p:cNvSpPr/>
          <p:nvPr/>
        </p:nvSpPr>
        <p:spPr>
          <a:xfrm>
            <a:off x="838200" y="35306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面试闭环 · 已交付</a:t>
            </a:r>
            <a:endParaRPr lang="en-US" sz="1300" dirty="0"/>
          </a:p>
        </p:txBody>
      </p:sp>
      <p:sp>
        <p:nvSpPr>
          <p:cNvPr id="21" name="sl1-b0"/>
          <p:cNvSpPr/>
          <p:nvPr/>
        </p:nvSpPr>
        <p:spPr>
          <a:xfrm>
            <a:off x="2514600" y="365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2" name="sl1-t0"/>
          <p:cNvSpPr/>
          <p:nvPr/>
        </p:nvSpPr>
        <p:spPr>
          <a:xfrm>
            <a:off x="2616200" y="3759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岗位题库与知识库</a:t>
            </a:r>
            <a:endParaRPr lang="en-US" sz="1050" dirty="0"/>
          </a:p>
        </p:txBody>
      </p:sp>
      <p:sp>
        <p:nvSpPr>
          <p:cNvPr id="23" name="sl1-b1"/>
          <p:cNvSpPr/>
          <p:nvPr/>
        </p:nvSpPr>
        <p:spPr>
          <a:xfrm>
            <a:off x="4292600" y="365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4" name="sl1-t1"/>
          <p:cNvSpPr/>
          <p:nvPr/>
        </p:nvSpPr>
        <p:spPr>
          <a:xfrm>
            <a:off x="4394200" y="3695700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岗位笔试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客观/开放/代码题</a:t>
            </a:r>
            <a:endParaRPr lang="en-US" sz="900" dirty="0"/>
          </a:p>
        </p:txBody>
      </p:sp>
      <p:sp>
        <p:nvSpPr>
          <p:cNvPr id="25" name="sl1-b2"/>
          <p:cNvSpPr/>
          <p:nvPr/>
        </p:nvSpPr>
        <p:spPr>
          <a:xfrm>
            <a:off x="6070600" y="365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6" name="sl1-t2"/>
          <p:cNvSpPr/>
          <p:nvPr/>
        </p:nvSpPr>
        <p:spPr>
          <a:xfrm>
            <a:off x="6172200" y="3759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面试会话与追问策略</a:t>
            </a:r>
            <a:endParaRPr lang="en-US" sz="1050" dirty="0"/>
          </a:p>
        </p:txBody>
      </p:sp>
      <p:sp>
        <p:nvSpPr>
          <p:cNvPr id="27" name="sl1-b3"/>
          <p:cNvSpPr/>
          <p:nvPr/>
        </p:nvSpPr>
        <p:spPr>
          <a:xfrm>
            <a:off x="7848600" y="365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8" name="sl1-t3"/>
          <p:cNvSpPr/>
          <p:nvPr/>
        </p:nvSpPr>
        <p:spPr>
          <a:xfrm>
            <a:off x="7950200" y="3759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评分量表与评估报告</a:t>
            </a:r>
            <a:endParaRPr lang="en-US" sz="1050" dirty="0"/>
          </a:p>
        </p:txBody>
      </p:sp>
      <p:sp>
        <p:nvSpPr>
          <p:cNvPr id="29" name="sl1-b4"/>
          <p:cNvSpPr/>
          <p:nvPr/>
        </p:nvSpPr>
        <p:spPr>
          <a:xfrm>
            <a:off x="9626600" y="3657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0" name="sl1-t4"/>
          <p:cNvSpPr/>
          <p:nvPr/>
        </p:nvSpPr>
        <p:spPr>
          <a:xfrm>
            <a:off x="9728200" y="3759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成长曲线与练习计划</a:t>
            </a:r>
            <a:endParaRPr lang="en-US" sz="1050" dirty="0"/>
          </a:p>
        </p:txBody>
      </p:sp>
      <p:sp>
        <p:nvSpPr>
          <p:cNvPr id="31" name="sl2"/>
          <p:cNvSpPr/>
          <p:nvPr/>
        </p:nvSpPr>
        <p:spPr>
          <a:xfrm>
            <a:off x="609600" y="4572000"/>
            <a:ext cx="10972800" cy="1117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32" name="sl2-n"/>
          <p:cNvSpPr/>
          <p:nvPr/>
        </p:nvSpPr>
        <p:spPr>
          <a:xfrm>
            <a:off x="838200" y="4800600"/>
            <a:ext cx="177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下一阶段 · 演进</a:t>
            </a:r>
            <a:endParaRPr lang="en-US" sz="1300" dirty="0"/>
          </a:p>
        </p:txBody>
      </p:sp>
      <p:sp>
        <p:nvSpPr>
          <p:cNvPr id="33" name="sl2-b0"/>
          <p:cNvSpPr/>
          <p:nvPr/>
        </p:nvSpPr>
        <p:spPr>
          <a:xfrm>
            <a:off x="2717800" y="4927600"/>
            <a:ext cx="2108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4" name="sl2-t0"/>
          <p:cNvSpPr/>
          <p:nvPr/>
        </p:nvSpPr>
        <p:spPr>
          <a:xfrm>
            <a:off x="2819400" y="5029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+ RAG + rerank 重排</a:t>
            </a:r>
            <a:endParaRPr lang="en-US" sz="1100" dirty="0"/>
          </a:p>
        </p:txBody>
      </p:sp>
      <p:sp>
        <p:nvSpPr>
          <p:cNvPr id="35" name="sl2-b1"/>
          <p:cNvSpPr/>
          <p:nvPr/>
        </p:nvSpPr>
        <p:spPr>
          <a:xfrm>
            <a:off x="4953000" y="4927600"/>
            <a:ext cx="2108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6" name="sl2-t1"/>
          <p:cNvSpPr/>
          <p:nvPr/>
        </p:nvSpPr>
        <p:spPr>
          <a:xfrm>
            <a:off x="5054600" y="5029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更低延迟实时语音</a:t>
            </a:r>
            <a:endParaRPr lang="en-US" sz="1100" dirty="0"/>
          </a:p>
        </p:txBody>
      </p:sp>
      <p:sp>
        <p:nvSpPr>
          <p:cNvPr id="37" name="sl2-b2"/>
          <p:cNvSpPr/>
          <p:nvPr/>
        </p:nvSpPr>
        <p:spPr>
          <a:xfrm>
            <a:off x="7188200" y="4927600"/>
            <a:ext cx="2108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8" name="sl2-t2"/>
          <p:cNvSpPr/>
          <p:nvPr/>
        </p:nvSpPr>
        <p:spPr>
          <a:xfrm>
            <a:off x="7289800" y="5029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可选数字人表现层</a:t>
            </a:r>
            <a:endParaRPr lang="en-US" sz="1100" dirty="0"/>
          </a:p>
        </p:txBody>
      </p:sp>
      <p:sp>
        <p:nvSpPr>
          <p:cNvPr id="39" name="sl2-b3"/>
          <p:cNvSpPr/>
          <p:nvPr/>
        </p:nvSpPr>
        <p:spPr>
          <a:xfrm>
            <a:off x="9423400" y="4927600"/>
            <a:ext cx="2108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40" name="sl2-t3"/>
          <p:cNvSpPr/>
          <p:nvPr/>
        </p:nvSpPr>
        <p:spPr>
          <a:xfrm>
            <a:off x="9525000" y="5029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试点数据回填成本模型</a:t>
            </a:r>
            <a:endParaRPr lang="en-US" sz="1100" dirty="0"/>
          </a:p>
        </p:txBody>
      </p:sp>
      <p:sp>
        <p:nvSpPr>
          <p:cNvPr id="41" name="gate"/>
          <p:cNvSpPr/>
          <p:nvPr/>
        </p:nvSpPr>
        <p:spPr>
          <a:xfrm>
            <a:off x="609600" y="5918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交付门槛：单岗位完整闭环先验收通过，再扩第二岗位；演进项按试点数据排期。</a:t>
            </a:r>
            <a:endParaRPr lang="en-US" sz="1200" dirty="0"/>
          </a:p>
        </p:txBody>
      </p:sp>
      <p:sp>
        <p:nvSpPr>
          <p:cNvPr id="42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3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44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成本与可行性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成本怎么算：口径清楚、可逐场核算</a:t>
            </a:r>
            <a:endParaRPr lang="en-US" sz="3200" dirty="0"/>
          </a:p>
        </p:txBody>
      </p:sp>
      <p:sp>
        <p:nvSpPr>
          <p:cNvPr id="5" name="cl"/>
          <p:cNvSpPr/>
          <p:nvPr/>
        </p:nvSpPr>
        <p:spPr>
          <a:xfrm>
            <a:off x="609600" y="19304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成本构成</a:t>
            </a:r>
            <a:endParaRPr lang="en-US" sz="1200" dirty="0"/>
          </a:p>
        </p:txBody>
      </p:sp>
      <p:sp>
        <p:nvSpPr>
          <p:cNvPr id="6" name="co0"/>
          <p:cNvSpPr/>
          <p:nvPr/>
        </p:nvSpPr>
        <p:spPr>
          <a:xfrm>
            <a:off x="812800" y="2362200"/>
            <a:ext cx="513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建设　自建系统开发（一次性投入）</a:t>
            </a:r>
            <a:endParaRPr lang="en-US" sz="1150" dirty="0"/>
          </a:p>
        </p:txBody>
      </p:sp>
      <p:sp>
        <p:nvSpPr>
          <p:cNvPr id="7" name="co1"/>
          <p:cNvSpPr/>
          <p:nvPr/>
        </p:nvSpPr>
        <p:spPr>
          <a:xfrm>
            <a:off x="812800" y="2794000"/>
            <a:ext cx="513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　模型调用（按输入与输出 token 量 × 单价）</a:t>
            </a:r>
            <a:endParaRPr lang="en-US" sz="1150" dirty="0"/>
          </a:p>
        </p:txBody>
      </p:sp>
      <p:sp>
        <p:nvSpPr>
          <p:cNvPr id="8" name="co2"/>
          <p:cNvSpPr/>
          <p:nvPr/>
        </p:nvSpPr>
        <p:spPr>
          <a:xfrm>
            <a:off x="812800" y="3225800"/>
            <a:ext cx="513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　语音转写与播报（按音频时长，仅语音场次产生）</a:t>
            </a:r>
            <a:endParaRPr lang="en-US" sz="1150" dirty="0"/>
          </a:p>
        </p:txBody>
      </p:sp>
      <p:sp>
        <p:nvSpPr>
          <p:cNvPr id="9" name="co3"/>
          <p:cNvSpPr/>
          <p:nvPr/>
        </p:nvSpPr>
        <p:spPr>
          <a:xfrm>
            <a:off x="812800" y="3657600"/>
            <a:ext cx="513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　服务器与存储（应用、数据库、缓存与音频文件）</a:t>
            </a:r>
            <a:endParaRPr lang="en-US" sz="1150" dirty="0"/>
          </a:p>
        </p:txBody>
      </p:sp>
      <p:sp>
        <p:nvSpPr>
          <p:cNvPr id="10" name="co4"/>
          <p:cNvSpPr/>
          <p:nvPr/>
        </p:nvSpPr>
        <p:spPr>
          <a:xfrm>
            <a:off x="812800" y="4089400"/>
            <a:ext cx="513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　人工复核抽检（评分一致性抽检所需人力）</a:t>
            </a:r>
            <a:endParaRPr lang="en-US" sz="1150" dirty="0"/>
          </a:p>
        </p:txBody>
      </p:sp>
      <p:sp>
        <p:nvSpPr>
          <p:cNvPr id="11" name="r1"/>
          <p:cNvSpPr/>
          <p:nvPr/>
        </p:nvSpPr>
        <p:spPr>
          <a:xfrm>
            <a:off x="6248400" y="19304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成本口径</a:t>
            </a:r>
            <a:endParaRPr lang="en-US" sz="1200" dirty="0"/>
          </a:p>
        </p:txBody>
      </p:sp>
      <p:sp>
        <p:nvSpPr>
          <p:cNvPr id="12" name="cc0"/>
          <p:cNvSpPr/>
          <p:nvPr/>
        </p:nvSpPr>
        <p:spPr>
          <a:xfrm>
            <a:off x="6248400" y="2286000"/>
            <a:ext cx="5334000" cy="5588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3" name="cc0-t"/>
          <p:cNvSpPr/>
          <p:nvPr/>
        </p:nvSpPr>
        <p:spPr>
          <a:xfrm>
            <a:off x="6477000" y="2438400"/>
            <a:ext cx="490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单场成本 ＝ 输入 token × 输入单价 ＋ 输出 token × 输出单价。</a:t>
            </a:r>
            <a:endParaRPr lang="en-US" sz="1150" dirty="0"/>
          </a:p>
        </p:txBody>
      </p:sp>
      <p:sp>
        <p:nvSpPr>
          <p:cNvPr id="14" name="cc1"/>
          <p:cNvSpPr/>
          <p:nvPr/>
        </p:nvSpPr>
        <p:spPr>
          <a:xfrm>
            <a:off x="6248400" y="2971800"/>
            <a:ext cx="5334000" cy="5588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5" name="cc1-t"/>
          <p:cNvSpPr/>
          <p:nvPr/>
        </p:nvSpPr>
        <p:spPr>
          <a:xfrm>
            <a:off x="6477000" y="3124200"/>
            <a:ext cx="490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量从会话记录统计，成本可逐场核算并离线复现。</a:t>
            </a:r>
            <a:endParaRPr lang="en-US" sz="1150" dirty="0"/>
          </a:p>
        </p:txBody>
      </p:sp>
      <p:sp>
        <p:nvSpPr>
          <p:cNvPr id="16" name="cc2"/>
          <p:cNvSpPr/>
          <p:nvPr/>
        </p:nvSpPr>
        <p:spPr>
          <a:xfrm>
            <a:off x="6248400" y="3657600"/>
            <a:ext cx="5334000" cy="5588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7" name="cc2-t"/>
          <p:cNvSpPr/>
          <p:nvPr/>
        </p:nvSpPr>
        <p:spPr>
          <a:xfrm>
            <a:off x="6477000" y="3810000"/>
            <a:ext cx="490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纯文本场次不产生语音成本；练习与复测共用同一链路。</a:t>
            </a:r>
            <a:endParaRPr lang="en-US" sz="1150" dirty="0"/>
          </a:p>
        </p:txBody>
      </p:sp>
      <p:sp>
        <p:nvSpPr>
          <p:cNvPr id="18" name="cc3"/>
          <p:cNvSpPr/>
          <p:nvPr/>
        </p:nvSpPr>
        <p:spPr>
          <a:xfrm>
            <a:off x="6248400" y="4343400"/>
            <a:ext cx="5334000" cy="5588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9" name="cc3-t"/>
          <p:cNvSpPr/>
          <p:nvPr/>
        </p:nvSpPr>
        <p:spPr>
          <a:xfrm>
            <a:off x="6477000" y="4495800"/>
            <a:ext cx="490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服务器与存储、人工复核抽检按迭代计划单列，不摊入单场。</a:t>
            </a:r>
            <a:endParaRPr lang="en-US" sz="1150" dirty="0"/>
          </a:p>
        </p:txBody>
      </p:sp>
      <p:sp>
        <p:nvSpPr>
          <p:cNvPr id="20" name="fl"/>
          <p:cNvSpPr/>
          <p:nvPr/>
        </p:nvSpPr>
        <p:spPr>
          <a:xfrm>
            <a:off x="609600" y="48768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可行性四问</a:t>
            </a:r>
            <a:endParaRPr lang="en-US" sz="1200" dirty="0"/>
          </a:p>
        </p:txBody>
      </p:sp>
      <p:sp>
        <p:nvSpPr>
          <p:cNvPr id="21" name="fe-b0"/>
          <p:cNvSpPr/>
          <p:nvPr/>
        </p:nvSpPr>
        <p:spPr>
          <a:xfrm>
            <a:off x="609600" y="5207000"/>
            <a:ext cx="16764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2" name="fe-t0"/>
          <p:cNvSpPr/>
          <p:nvPr/>
        </p:nvSpPr>
        <p:spPr>
          <a:xfrm>
            <a:off x="711200" y="53467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技术可行</a:t>
            </a:r>
            <a:endParaRPr lang="en-US" sz="1250" dirty="0"/>
          </a:p>
        </p:txBody>
      </p:sp>
      <p:sp>
        <p:nvSpPr>
          <p:cNvPr id="23" name="fe-b1"/>
          <p:cNvSpPr/>
          <p:nvPr/>
        </p:nvSpPr>
        <p:spPr>
          <a:xfrm>
            <a:off x="2438400" y="5207000"/>
            <a:ext cx="16764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4" name="fe-t1"/>
          <p:cNvSpPr/>
          <p:nvPr/>
        </p:nvSpPr>
        <p:spPr>
          <a:xfrm>
            <a:off x="2540000" y="53467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工程可行</a:t>
            </a:r>
            <a:endParaRPr lang="en-US" sz="1250" dirty="0"/>
          </a:p>
        </p:txBody>
      </p:sp>
      <p:sp>
        <p:nvSpPr>
          <p:cNvPr id="25" name="fe-b2"/>
          <p:cNvSpPr/>
          <p:nvPr/>
        </p:nvSpPr>
        <p:spPr>
          <a:xfrm>
            <a:off x="4267200" y="5207000"/>
            <a:ext cx="16764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6" name="fe-t2"/>
          <p:cNvSpPr/>
          <p:nvPr/>
        </p:nvSpPr>
        <p:spPr>
          <a:xfrm>
            <a:off x="4368800" y="53467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成本可控</a:t>
            </a:r>
            <a:endParaRPr lang="en-US" sz="1250" dirty="0"/>
          </a:p>
        </p:txBody>
      </p:sp>
      <p:sp>
        <p:nvSpPr>
          <p:cNvPr id="27" name="fe-b3"/>
          <p:cNvSpPr/>
          <p:nvPr/>
        </p:nvSpPr>
        <p:spPr>
          <a:xfrm>
            <a:off x="6096000" y="5207000"/>
            <a:ext cx="1676400" cy="508000"/>
          </a:xfrm>
          <a:prstGeom prst="rect">
            <a:avLst/>
          </a:prstGeom>
          <a:solidFill>
            <a:srgbClr val="EDEEFE"/>
          </a:solidFill>
          <a:ln w="12700">
            <a:solidFill>
              <a:srgbClr val="EDEEFE"/>
            </a:solidFill>
            <a:prstDash val="solid"/>
          </a:ln>
        </p:spPr>
      </p:sp>
      <p:sp>
        <p:nvSpPr>
          <p:cNvPr id="28" name="fe-t3"/>
          <p:cNvSpPr/>
          <p:nvPr/>
        </p:nvSpPr>
        <p:spPr>
          <a:xfrm>
            <a:off x="6197600" y="53467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合规可信</a:t>
            </a:r>
            <a:endParaRPr lang="en-US" sz="1250" dirty="0"/>
          </a:p>
        </p:txBody>
      </p:sp>
      <p:sp>
        <p:nvSpPr>
          <p:cNvPr id="29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30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31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A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09600" y="3302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小结</a:t>
            </a:r>
            <a:endParaRPr lang="en-US" sz="1100" dirty="0"/>
          </a:p>
        </p:txBody>
      </p:sp>
      <p:sp>
        <p:nvSpPr>
          <p:cNvPr id="3" name="head-rule"/>
          <p:cNvSpPr/>
          <p:nvPr/>
        </p:nvSpPr>
        <p:spPr>
          <a:xfrm>
            <a:off x="609600" y="711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小结：每条交付都能逐条核查</a:t>
            </a:r>
            <a:endParaRPr lang="en-US" sz="3000" dirty="0"/>
          </a:p>
        </p:txBody>
      </p:sp>
      <p:sp>
        <p:nvSpPr>
          <p:cNvPr id="5" name="sl0"/>
          <p:cNvSpPr/>
          <p:nvPr/>
        </p:nvSpPr>
        <p:spPr>
          <a:xfrm>
            <a:off x="609600" y="1905000"/>
            <a:ext cx="10972800" cy="1117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6" name="sl0-n"/>
          <p:cNvSpPr/>
          <p:nvPr/>
        </p:nvSpPr>
        <p:spPr>
          <a:xfrm>
            <a:off x="838200" y="21336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 · 面试闭环</a:t>
            </a:r>
            <a:endParaRPr lang="en-US" sz="1300" dirty="0"/>
          </a:p>
        </p:txBody>
      </p:sp>
      <p:sp>
        <p:nvSpPr>
          <p:cNvPr id="7" name="sl0-b0"/>
          <p:cNvSpPr/>
          <p:nvPr/>
        </p:nvSpPr>
        <p:spPr>
          <a:xfrm>
            <a:off x="2514600" y="226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8" name="sl0-t0"/>
          <p:cNvSpPr/>
          <p:nvPr/>
        </p:nvSpPr>
        <p:spPr>
          <a:xfrm>
            <a:off x="26162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岗位题库与知识库</a:t>
            </a:r>
            <a:endParaRPr lang="en-US" sz="1000" dirty="0"/>
          </a:p>
        </p:txBody>
      </p:sp>
      <p:sp>
        <p:nvSpPr>
          <p:cNvPr id="9" name="sl0-b1"/>
          <p:cNvSpPr/>
          <p:nvPr/>
        </p:nvSpPr>
        <p:spPr>
          <a:xfrm>
            <a:off x="4292600" y="226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0" name="sl0-t1"/>
          <p:cNvSpPr/>
          <p:nvPr/>
        </p:nvSpPr>
        <p:spPr>
          <a:xfrm>
            <a:off x="43942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岗位笔试</a:t>
            </a:r>
            <a:endParaRPr lang="en-US" sz="1000" dirty="0"/>
          </a:p>
        </p:txBody>
      </p:sp>
      <p:sp>
        <p:nvSpPr>
          <p:cNvPr id="11" name="sl0-b2"/>
          <p:cNvSpPr/>
          <p:nvPr/>
        </p:nvSpPr>
        <p:spPr>
          <a:xfrm>
            <a:off x="6070600" y="226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2" name="sl0-t2"/>
          <p:cNvSpPr/>
          <p:nvPr/>
        </p:nvSpPr>
        <p:spPr>
          <a:xfrm>
            <a:off x="61722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面试会话与追问</a:t>
            </a:r>
            <a:endParaRPr lang="en-US" sz="1000" dirty="0"/>
          </a:p>
        </p:txBody>
      </p:sp>
      <p:sp>
        <p:nvSpPr>
          <p:cNvPr id="13" name="sl0-b3"/>
          <p:cNvSpPr/>
          <p:nvPr/>
        </p:nvSpPr>
        <p:spPr>
          <a:xfrm>
            <a:off x="7848600" y="226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4" name="sl0-t3"/>
          <p:cNvSpPr/>
          <p:nvPr/>
        </p:nvSpPr>
        <p:spPr>
          <a:xfrm>
            <a:off x="79502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评分量表与报告</a:t>
            </a:r>
            <a:endParaRPr lang="en-US" sz="1000" dirty="0"/>
          </a:p>
        </p:txBody>
      </p:sp>
      <p:sp>
        <p:nvSpPr>
          <p:cNvPr id="15" name="sl0-b4"/>
          <p:cNvSpPr/>
          <p:nvPr/>
        </p:nvSpPr>
        <p:spPr>
          <a:xfrm>
            <a:off x="9626600" y="226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16" name="sl0-t4"/>
          <p:cNvSpPr/>
          <p:nvPr/>
        </p:nvSpPr>
        <p:spPr>
          <a:xfrm>
            <a:off x="9728200" y="236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成长曲线与练习</a:t>
            </a:r>
            <a:endParaRPr lang="en-US" sz="1000" dirty="0"/>
          </a:p>
        </p:txBody>
      </p:sp>
      <p:sp>
        <p:nvSpPr>
          <p:cNvPr id="17" name="sl1"/>
          <p:cNvSpPr/>
          <p:nvPr/>
        </p:nvSpPr>
        <p:spPr>
          <a:xfrm>
            <a:off x="609600" y="3175000"/>
            <a:ext cx="10972800" cy="1117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18" name="sl1-n"/>
          <p:cNvSpPr/>
          <p:nvPr/>
        </p:nvSpPr>
        <p:spPr>
          <a:xfrm>
            <a:off x="838200" y="34036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 · 平台能力</a:t>
            </a:r>
            <a:endParaRPr lang="en-US" sz="1300" dirty="0"/>
          </a:p>
        </p:txBody>
      </p:sp>
      <p:sp>
        <p:nvSpPr>
          <p:cNvPr id="19" name="sl1-b0"/>
          <p:cNvSpPr/>
          <p:nvPr/>
        </p:nvSpPr>
        <p:spPr>
          <a:xfrm>
            <a:off x="2514600" y="353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0" name="sl1-t0"/>
          <p:cNvSpPr/>
          <p:nvPr/>
        </p:nvSpPr>
        <p:spPr>
          <a:xfrm>
            <a:off x="2616200" y="363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事实与版本流</a:t>
            </a:r>
            <a:endParaRPr lang="en-US" sz="1000" dirty="0"/>
          </a:p>
        </p:txBody>
      </p:sp>
      <p:sp>
        <p:nvSpPr>
          <p:cNvPr id="21" name="sl1-b1"/>
          <p:cNvSpPr/>
          <p:nvPr/>
        </p:nvSpPr>
        <p:spPr>
          <a:xfrm>
            <a:off x="4292600" y="353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2" name="sl1-t1"/>
          <p:cNvSpPr/>
          <p:nvPr/>
        </p:nvSpPr>
        <p:spPr>
          <a:xfrm>
            <a:off x="4394200" y="363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改动审批闭环</a:t>
            </a:r>
            <a:endParaRPr lang="en-US" sz="1000" dirty="0"/>
          </a:p>
        </p:txBody>
      </p:sp>
      <p:sp>
        <p:nvSpPr>
          <p:cNvPr id="23" name="sl1-b2"/>
          <p:cNvSpPr/>
          <p:nvPr/>
        </p:nvSpPr>
        <p:spPr>
          <a:xfrm>
            <a:off x="6070600" y="353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4" name="sl1-t2"/>
          <p:cNvSpPr/>
          <p:nvPr/>
        </p:nvSpPr>
        <p:spPr>
          <a:xfrm>
            <a:off x="6172200" y="363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 识别与微调</a:t>
            </a:r>
            <a:endParaRPr lang="en-US" sz="1000" dirty="0"/>
          </a:p>
        </p:txBody>
      </p:sp>
      <p:sp>
        <p:nvSpPr>
          <p:cNvPr id="25" name="sl1-b3"/>
          <p:cNvSpPr/>
          <p:nvPr/>
        </p:nvSpPr>
        <p:spPr>
          <a:xfrm>
            <a:off x="7848600" y="353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6" name="sl1-t3"/>
          <p:cNvSpPr/>
          <p:nvPr/>
        </p:nvSpPr>
        <p:spPr>
          <a:xfrm>
            <a:off x="7950200" y="363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运行时</a:t>
            </a:r>
            <a:endParaRPr lang="en-US" sz="1000" dirty="0"/>
          </a:p>
        </p:txBody>
      </p:sp>
      <p:sp>
        <p:nvSpPr>
          <p:cNvPr id="27" name="sl1-b4"/>
          <p:cNvSpPr/>
          <p:nvPr/>
        </p:nvSpPr>
        <p:spPr>
          <a:xfrm>
            <a:off x="9626600" y="353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28" name="sl1-t4"/>
          <p:cNvSpPr/>
          <p:nvPr/>
        </p:nvSpPr>
        <p:spPr>
          <a:xfrm>
            <a:off x="9728200" y="363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引导与错误块</a:t>
            </a:r>
            <a:endParaRPr lang="en-US" sz="1000" dirty="0"/>
          </a:p>
        </p:txBody>
      </p:sp>
      <p:sp>
        <p:nvSpPr>
          <p:cNvPr id="29" name="sl2"/>
          <p:cNvSpPr/>
          <p:nvPr/>
        </p:nvSpPr>
        <p:spPr>
          <a:xfrm>
            <a:off x="609600" y="4445000"/>
            <a:ext cx="10972800" cy="1117600"/>
          </a:xfrm>
          <a:prstGeom prst="rect">
            <a:avLst/>
          </a:prstGeom>
          <a:solidFill>
            <a:srgbClr val="F2F0E2"/>
          </a:solidFill>
          <a:ln w="12700">
            <a:solidFill>
              <a:srgbClr val="F2F0E2"/>
            </a:solidFill>
            <a:prstDash val="solid"/>
          </a:ln>
        </p:spPr>
      </p:sp>
      <p:sp>
        <p:nvSpPr>
          <p:cNvPr id="30" name="sl2-n"/>
          <p:cNvSpPr/>
          <p:nvPr/>
        </p:nvSpPr>
        <p:spPr>
          <a:xfrm>
            <a:off x="838200" y="46736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逐条可核查</a:t>
            </a:r>
            <a:endParaRPr lang="en-US" sz="1300" dirty="0"/>
          </a:p>
        </p:txBody>
      </p:sp>
      <p:sp>
        <p:nvSpPr>
          <p:cNvPr id="31" name="sl2-b0"/>
          <p:cNvSpPr/>
          <p:nvPr/>
        </p:nvSpPr>
        <p:spPr>
          <a:xfrm>
            <a:off x="2514600" y="480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2" name="sl2-t0"/>
          <p:cNvSpPr/>
          <p:nvPr/>
        </p:nvSpPr>
        <p:spPr>
          <a:xfrm>
            <a:off x="2616200" y="490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 编号与提交</a:t>
            </a:r>
            <a:endParaRPr lang="en-US" sz="1000" dirty="0"/>
          </a:p>
        </p:txBody>
      </p:sp>
      <p:sp>
        <p:nvSpPr>
          <p:cNvPr id="33" name="sl2-b1"/>
          <p:cNvSpPr/>
          <p:nvPr/>
        </p:nvSpPr>
        <p:spPr>
          <a:xfrm>
            <a:off x="4292600" y="480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4" name="sl2-t1"/>
          <p:cNvSpPr/>
          <p:nvPr/>
        </p:nvSpPr>
        <p:spPr>
          <a:xfrm>
            <a:off x="4394200" y="490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 583·130·649</a:t>
            </a:r>
            <a:endParaRPr lang="en-US" sz="1000" dirty="0"/>
          </a:p>
        </p:txBody>
      </p:sp>
      <p:sp>
        <p:nvSpPr>
          <p:cNvPr id="35" name="sl2-b2"/>
          <p:cNvSpPr/>
          <p:nvPr/>
        </p:nvSpPr>
        <p:spPr>
          <a:xfrm>
            <a:off x="6070600" y="480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6" name="sl2-t2"/>
          <p:cNvSpPr/>
          <p:nvPr/>
        </p:nvSpPr>
        <p:spPr>
          <a:xfrm>
            <a:off x="6172200" y="490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五道质量门禁</a:t>
            </a:r>
            <a:endParaRPr lang="en-US" sz="1000" dirty="0"/>
          </a:p>
        </p:txBody>
      </p:sp>
      <p:sp>
        <p:nvSpPr>
          <p:cNvPr id="37" name="sl2-b3"/>
          <p:cNvSpPr/>
          <p:nvPr/>
        </p:nvSpPr>
        <p:spPr>
          <a:xfrm>
            <a:off x="7848600" y="4800600"/>
            <a:ext cx="1727200" cy="406400"/>
          </a:xfrm>
          <a:prstGeom prst="rect">
            <a:avLst/>
          </a:prstGeom>
          <a:solidFill>
            <a:srgbClr val="FDFAE7"/>
          </a:solidFill>
          <a:ln w="12700">
            <a:solidFill>
              <a:srgbClr val="FDFAE7"/>
            </a:solidFill>
            <a:prstDash val="solid"/>
          </a:ln>
        </p:spPr>
      </p:sp>
      <p:sp>
        <p:nvSpPr>
          <p:cNvPr id="38" name="sl2-t3"/>
          <p:cNvSpPr/>
          <p:nvPr/>
        </p:nvSpPr>
        <p:spPr>
          <a:xfrm>
            <a:off x="7950200" y="4902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假实现都会被门禁拦下</a:t>
            </a:r>
            <a:endParaRPr lang="en-US" sz="1000" dirty="0"/>
          </a:p>
        </p:txBody>
      </p:sp>
      <p:sp>
        <p:nvSpPr>
          <p:cNvPr id="39" name="gate"/>
          <p:cNvSpPr/>
          <p:nvPr/>
        </p:nvSpPr>
        <p:spPr>
          <a:xfrm>
            <a:off x="609600" y="5740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下一步：BM25 + 向量检索（RAG）+ rerank 重排、扩充岗位覆盖、更低延迟实时语音、可选数字人表现层；成本模型按试点数据回填。</a:t>
            </a:r>
            <a:endParaRPr lang="en-US" sz="1200" dirty="0"/>
          </a:p>
        </p:txBody>
      </p:sp>
      <p:sp>
        <p:nvSpPr>
          <p:cNvPr id="40" name="foot-rule"/>
          <p:cNvSpPr/>
          <p:nvPr/>
        </p:nvSpPr>
        <p:spPr>
          <a:xfrm>
            <a:off x="609600" y="6299200"/>
            <a:ext cx="10972800" cy="12700"/>
          </a:xfrm>
          <a:prstGeom prst="rect">
            <a:avLst/>
          </a:prstGeom>
          <a:solidFill>
            <a:srgbClr val="DCD8C6"/>
          </a:solidFill>
          <a:ln w="12700">
            <a:solidFill>
              <a:srgbClr val="DCD8C6"/>
            </a:solidFill>
            <a:prstDash val="solid"/>
          </a:ln>
        </p:spPr>
      </p:sp>
      <p:sp>
        <p:nvSpPr>
          <p:cNvPr id="41" name="foot-text"/>
          <p:cNvSpPr/>
          <p:nvPr/>
        </p:nvSpPr>
        <p:spPr>
          <a:xfrm>
            <a:off x="609600" y="64135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6D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RMD · 赛题 A11《AI 模拟面试与能力提升软件》</a:t>
            </a:r>
            <a:endParaRPr lang="en-US" sz="900" dirty="0"/>
          </a:p>
        </p:txBody>
      </p:sp>
      <p:sp>
        <p:nvSpPr>
          <p:cNvPr id="42" name="foot-page"/>
          <p:cNvSpPr/>
          <p:nvPr/>
        </p:nvSpPr>
        <p:spPr>
          <a:xfrm>
            <a:off x="10541000" y="63881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F6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DeepSeek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S3 核心内容展示 · A11 AI 模拟面试与能力提升软件</dc:title>
  <dc:subject>Local PPTD v2 editable rendering</dc:subject>
  <dc:creator>DSH PPTD</dc:creator>
  <cp:lastModifiedBy>DSH PPTD</cp:lastModifiedBy>
  <cp:revision>1</cp:revision>
  <dcterms:created xsi:type="dcterms:W3CDTF">2026-10-10T07:34:13Z</dcterms:created>
  <dcterms:modified xsi:type="dcterms:W3CDTF">2026-10-10T07:34:13Z</dcterms:modified>
</cp:coreProperties>
</file>