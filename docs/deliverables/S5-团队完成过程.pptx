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35 秒）：各位评委好，我们是参赛队 RMD。这份材料讲我们三个人在这个比赛周期里，怎么把想法做成能跑的系统。从第一个 Issue 到最后一页报告，开发、踩坑、修复都留在同一个仓库里，可以逐条翻到。
画面：封面左侧两行标题「把想法做成能跑的系统」，右上角标出参赛队 RMD 与赛题编号 A11，右侧色块写「一个比赛周期 · 三个人」；底部一行是竞赛名称与页码。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42 秒）：先介绍我们三个人。队长主要定产品做什么、拆需求、画界面，也写核心功能；开发写另一部分功能、对接接口、做模块自测，还算模型和成本；测试设计用例、复现缺陷、盯回归，再做端到端走查。谁卡住了，另外两个人就补上去。
画面：三张卡片并列，分别写队长、开发、测试各自在做的事与留下的材料；底部一条横带写着「谁有空谁补位」。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42 秒）：我们怎么一起干活。仓库用 Git 管：新功能或 bug 先写成 Issue，再从主干开分支，提交都挂上对应的编号。每天对一次进度，接口和共享文件先商量好再改；合并前互相 review，有冲突就当面一起解决。这样三个人的改动不会互相覆盖，也方便回头看。
画面：四条协作习惯纵向排开，每条写一句我们的约定；底部一行强调「不写没人看得懂的代码」。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48 秒）：我们怎么保证东西是好的。仓库有五道门禁，提交前自动跑；三层测试是后端 583、运行体 130、前端 649；界面一定先在 Storybook 里确认，再对接后端。含糊的实现必须写清标记，一条命令就能查出来。
画面：三行标签分别是五道门禁、三层测试与我们的习惯；底部写清「先验证，再交付」和一句可复制的查询命令，谁都能自己跑一遍。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48 秒）：第一个困难，Key 失效。跟助手说话半天没反应，我们先查网络，后来翻日志才看到上游返回 401，错误在路上被吞掉了。根子在后端没有把失败记下来。后来把失败按类别、模型和 Key 尾号记清楚，对话区直接报错，还给更新 Key 和重试；我们故意用错 Key 跑了一遍确认。
画面：五行链路，从「怎么发现」到「确认解决」，突出失败要看得见、点得动。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46 秒）：第二个困难，模型猜会话编号。让它录一条信息，它反而反问我们要编号。日志里连续报会话不存在，原因是模型自己猜的值把运行体的绑定压掉了。我们加了提示词没用，最后在 profile 作用域里注入绑定并强制覆盖。同样的话再说一遍，录入成功；新版本这类报错 0 次，旧版本是 22 次。
画面：五行链路，从「怎么发现」到「确认解决」；底部标出新旧版本报错次数对比。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46 秒）：第三个困难，截图识别。上传岗位截图，返回的草案跟图片没关系，还声明了后端不存在的接口。我们发现那段实现只读文件名，注释写着前端演示，两次审计都没注意到。于是接上真实视觉模型，同时让门禁去查含糊实现，前端路由要和后端对得上。现在模型不支持看图时会明确提示换模型。
画面：左侧编号轨道配五行链路，从「怎么发现」到「确认解决」；脚注写「不能糊弄」。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46 秒）：这个项目我们收获了什么。技术上，我们从只做单点功能，到能自己排查整条链路；协作上，我们学会了先说清楚再动手，接口先谈、改完互相看；最重要的是信任，最难的那几天谁都没甩锅，卡住就一起坐下来定位。
画面：三张卡片分别写技术、协作与信任；底部一条横带写着把踩过的坑写成规则、留在仓库里。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口播（约 30 秒）：最后做个小结。一个比赛周期结束，三个人把想法做成了能跑的系统：遇到问题一起定位，改完一起确认，过程与证据都留在仓库里。下一步把检索升级为 BM25 + 向量检索（RAG）+ rerank 重排，并继续扩充岗位与题库。
画面：三张卡片分别写「一个周期」「一起做」「下一步」；底部一行写「过程与证据都在仓库里，可逐条核查」。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"/>
          <p:cNvSpPr/>
          <p:nvPr/>
        </p:nvSpPr>
        <p:spPr>
          <a:xfrm>
            <a:off x="8763000" y="0"/>
            <a:ext cx="3429000" cy="5969000"/>
          </a:xfrm>
          <a:prstGeom prst="rect">
            <a:avLst/>
          </a:prstGeom>
          <a:solidFill>
            <a:srgbClr val="E9E8E0"/>
          </a:solidFill>
          <a:ln w="12700">
            <a:solidFill>
              <a:srgbClr val="E9E8E0"/>
            </a:solidFill>
            <a:prstDash val="solid"/>
          </a:ln>
        </p:spPr>
      </p:sp>
      <p:sp>
        <p:nvSpPr>
          <p:cNvPr id="3" name="cover-accent"/>
          <p:cNvSpPr/>
          <p:nvPr/>
        </p:nvSpPr>
        <p:spPr>
          <a:xfrm>
            <a:off x="8763000" y="0"/>
            <a:ext cx="3429000" cy="762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4" name="cover-kicker"/>
          <p:cNvSpPr/>
          <p:nvPr/>
        </p:nvSpPr>
        <p:spPr>
          <a:xfrm>
            <a:off x="9067800" y="6096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团队完成过程</a:t>
            </a:r>
            <a:endParaRPr lang="en-US" sz="1200" dirty="0"/>
          </a:p>
        </p:txBody>
      </p:sp>
      <p:sp>
        <p:nvSpPr>
          <p:cNvPr id="5" name="cover-code"/>
          <p:cNvSpPr/>
          <p:nvPr/>
        </p:nvSpPr>
        <p:spPr>
          <a:xfrm>
            <a:off x="9067800" y="939800"/>
            <a:ext cx="2819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A11</a:t>
            </a:r>
            <a:endParaRPr lang="en-US" sz="5400" dirty="0"/>
          </a:p>
        </p:txBody>
      </p:sp>
      <p:sp>
        <p:nvSpPr>
          <p:cNvPr id="6" name="cover-name"/>
          <p:cNvSpPr/>
          <p:nvPr/>
        </p:nvSpPr>
        <p:spPr>
          <a:xfrm>
            <a:off x="9067800" y="1905000"/>
            <a:ext cx="2819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一个比赛周期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三个人的 RMD</a:t>
            </a:r>
            <a:endParaRPr lang="en-US" sz="1800" dirty="0"/>
          </a:p>
        </p:txBody>
      </p:sp>
      <p:sp>
        <p:nvSpPr>
          <p:cNvPr id="7" name="cover-band-rule"/>
          <p:cNvSpPr/>
          <p:nvPr/>
        </p:nvSpPr>
        <p:spPr>
          <a:xfrm>
            <a:off x="9067800" y="2921000"/>
            <a:ext cx="28194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8" name="cover-meta"/>
          <p:cNvSpPr/>
          <p:nvPr/>
        </p:nvSpPr>
        <p:spPr>
          <a:xfrm>
            <a:off x="9067800" y="3124200"/>
            <a:ext cx="2819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参赛队：RMD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命题企业：锐捷网络</a:t>
            </a:r>
            <a:endParaRPr lang="en-US" sz="1200" dirty="0"/>
          </a:p>
        </p:txBody>
      </p:sp>
      <p:sp>
        <p:nvSpPr>
          <p:cNvPr id="9" name="cover-org"/>
          <p:cNvSpPr/>
          <p:nvPr/>
        </p:nvSpPr>
        <p:spPr>
          <a:xfrm>
            <a:off x="609600" y="3048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2026「数字马力杯」第十三届浙江省大学生服务外包创新应用大赛</a:t>
            </a:r>
            <a:endParaRPr lang="en-US" sz="1100" dirty="0"/>
          </a:p>
        </p:txBody>
      </p:sp>
      <p:sp>
        <p:nvSpPr>
          <p:cNvPr id="10" name="cover-title"/>
          <p:cNvSpPr/>
          <p:nvPr/>
        </p:nvSpPr>
        <p:spPr>
          <a:xfrm>
            <a:off x="609600" y="11684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把想法做成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能跑的系统</a:t>
            </a:r>
            <a:endParaRPr lang="en-US" sz="4000" dirty="0"/>
          </a:p>
        </p:txBody>
      </p:sp>
      <p:sp>
        <p:nvSpPr>
          <p:cNvPr id="11" name="cover-rule"/>
          <p:cNvSpPr/>
          <p:nvPr/>
        </p:nvSpPr>
        <p:spPr>
          <a:xfrm>
            <a:off x="609600" y="3048000"/>
            <a:ext cx="15240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2" name="cover-sub"/>
          <p:cNvSpPr/>
          <p:nvPr/>
        </p:nvSpPr>
        <p:spPr>
          <a:xfrm>
            <a:off x="609600" y="3403600"/>
            <a:ext cx="749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同一仓库、一起改代码、一起把坑填上；这是我们三个人这个比赛周期的过程。</a:t>
            </a:r>
            <a:endParaRPr lang="en-US" sz="1600" dirty="0"/>
          </a:p>
        </p:txBody>
      </p:sp>
      <p:sp>
        <p:nvSpPr>
          <p:cNvPr id="13" name="cover-foo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14" name="cover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我们三个人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我们三个人：一起把事做完</a:t>
            </a:r>
            <a:endParaRPr lang="en-US" sz="3000" dirty="0"/>
          </a:p>
        </p:txBody>
      </p:sp>
      <p:sp>
        <p:nvSpPr>
          <p:cNvPr id="5" name="ro0"/>
          <p:cNvSpPr/>
          <p:nvPr/>
        </p:nvSpPr>
        <p:spPr>
          <a:xfrm>
            <a:off x="609600" y="1981200"/>
            <a:ext cx="3454400" cy="2133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ro0-n"/>
          <p:cNvSpPr/>
          <p:nvPr/>
        </p:nvSpPr>
        <p:spPr>
          <a:xfrm>
            <a:off x="863600" y="22098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队长（产品与开发）</a:t>
            </a:r>
            <a:endParaRPr lang="en-US" sz="1500" dirty="0"/>
          </a:p>
        </p:txBody>
      </p:sp>
      <p:sp>
        <p:nvSpPr>
          <p:cNvPr id="7" name="ro0-r"/>
          <p:cNvSpPr/>
          <p:nvPr/>
        </p:nvSpPr>
        <p:spPr>
          <a:xfrm>
            <a:off x="863600" y="26416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8" name="ro0-b"/>
          <p:cNvSpPr/>
          <p:nvPr/>
        </p:nvSpPr>
        <p:spPr>
          <a:xfrm>
            <a:off x="863600" y="2819400"/>
            <a:ext cx="2946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定产品做什么、拆需求、画界面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也写核心功能，盯进度与验收</a:t>
            </a:r>
            <a:endParaRPr lang="en-US" sz="1200" dirty="0"/>
          </a:p>
        </p:txBody>
      </p:sp>
      <p:sp>
        <p:nvSpPr>
          <p:cNvPr id="9" name="ro0-d"/>
          <p:cNvSpPr/>
          <p:nvPr/>
        </p:nvSpPr>
        <p:spPr>
          <a:xfrm>
            <a:off x="863600" y="3708400"/>
            <a:ext cx="294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 与屏幕流定义 · 核心功能代码</a:t>
            </a:r>
            <a:endParaRPr lang="en-US" sz="1050" dirty="0"/>
          </a:p>
        </p:txBody>
      </p:sp>
      <p:sp>
        <p:nvSpPr>
          <p:cNvPr id="10" name="ro1"/>
          <p:cNvSpPr/>
          <p:nvPr/>
        </p:nvSpPr>
        <p:spPr>
          <a:xfrm>
            <a:off x="4368800" y="1981200"/>
            <a:ext cx="3454400" cy="2133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1" name="ro1-n"/>
          <p:cNvSpPr/>
          <p:nvPr/>
        </p:nvSpPr>
        <p:spPr>
          <a:xfrm>
            <a:off x="4622800" y="22098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</a:t>
            </a:r>
            <a:endParaRPr lang="en-US" sz="1500" dirty="0"/>
          </a:p>
        </p:txBody>
      </p:sp>
      <p:sp>
        <p:nvSpPr>
          <p:cNvPr id="12" name="ro1-r"/>
          <p:cNvSpPr/>
          <p:nvPr/>
        </p:nvSpPr>
        <p:spPr>
          <a:xfrm>
            <a:off x="4622800" y="26416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3" name="ro1-b"/>
          <p:cNvSpPr/>
          <p:nvPr/>
        </p:nvSpPr>
        <p:spPr>
          <a:xfrm>
            <a:off x="4622800" y="2819400"/>
            <a:ext cx="2946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写另一部分功能、对接接口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做模块自测，算模型与成本</a:t>
            </a:r>
            <a:endParaRPr lang="en-US" sz="1200" dirty="0"/>
          </a:p>
        </p:txBody>
      </p:sp>
      <p:sp>
        <p:nvSpPr>
          <p:cNvPr id="14" name="ro1-d"/>
          <p:cNvSpPr/>
          <p:nvPr/>
        </p:nvSpPr>
        <p:spPr>
          <a:xfrm>
            <a:off x="4622800" y="3708400"/>
            <a:ext cx="294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接口契约 · 成本模型 · 模块自测</a:t>
            </a:r>
            <a:endParaRPr lang="en-US" sz="1050" dirty="0"/>
          </a:p>
        </p:txBody>
      </p:sp>
      <p:sp>
        <p:nvSpPr>
          <p:cNvPr id="15" name="ro2"/>
          <p:cNvSpPr/>
          <p:nvPr/>
        </p:nvSpPr>
        <p:spPr>
          <a:xfrm>
            <a:off x="8128000" y="1981200"/>
            <a:ext cx="3454400" cy="2133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6" name="ro2-n"/>
          <p:cNvSpPr/>
          <p:nvPr/>
        </p:nvSpPr>
        <p:spPr>
          <a:xfrm>
            <a:off x="8382000" y="22098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</a:t>
            </a:r>
            <a:endParaRPr lang="en-US" sz="1500" dirty="0"/>
          </a:p>
        </p:txBody>
      </p:sp>
      <p:sp>
        <p:nvSpPr>
          <p:cNvPr id="17" name="ro2-r"/>
          <p:cNvSpPr/>
          <p:nvPr/>
        </p:nvSpPr>
        <p:spPr>
          <a:xfrm>
            <a:off x="8382000" y="26416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8" name="ro2-b"/>
          <p:cNvSpPr/>
          <p:nvPr/>
        </p:nvSpPr>
        <p:spPr>
          <a:xfrm>
            <a:off x="8382000" y="2819400"/>
            <a:ext cx="2946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设计用例、复现缺陷、盯回归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做端到端走查与质量门禁</a:t>
            </a:r>
            <a:endParaRPr lang="en-US" sz="1200" dirty="0"/>
          </a:p>
        </p:txBody>
      </p:sp>
      <p:sp>
        <p:nvSpPr>
          <p:cNvPr id="19" name="ro2-d"/>
          <p:cNvSpPr/>
          <p:nvPr/>
        </p:nvSpPr>
        <p:spPr>
          <a:xfrm>
            <a:off x="8382000" y="3708400"/>
            <a:ext cx="294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测试用例 · 缺陷记录 · 门禁报告</a:t>
            </a:r>
            <a:endParaRPr lang="en-US" sz="1050" dirty="0"/>
          </a:p>
        </p:txBody>
      </p:sp>
      <p:sp>
        <p:nvSpPr>
          <p:cNvPr id="20" name="band"/>
          <p:cNvSpPr/>
          <p:nvPr/>
        </p:nvSpPr>
        <p:spPr>
          <a:xfrm>
            <a:off x="609600" y="4648200"/>
            <a:ext cx="109728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1" name="band-t"/>
          <p:cNvSpPr/>
          <p:nvPr/>
        </p:nvSpPr>
        <p:spPr>
          <a:xfrm>
            <a:off x="863600" y="4826000"/>
            <a:ext cx="1046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谁有空谁补位：队长卡住时开发接界面，测试发现的问题当场一起定位。</a:t>
            </a:r>
            <a:endParaRPr lang="en-US" sz="1350" dirty="0"/>
          </a:p>
        </p:txBody>
      </p:sp>
      <p:sp>
        <p:nvSpPr>
          <p:cNvPr id="2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我们怎么一起干活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 Git 仓库，一起把事说清楚</a:t>
            </a:r>
            <a:endParaRPr lang="en-US" sz="3000" dirty="0"/>
          </a:p>
        </p:txBody>
      </p:sp>
      <p:sp>
        <p:nvSpPr>
          <p:cNvPr id="5" name="w0"/>
          <p:cNvSpPr/>
          <p:nvPr/>
        </p:nvSpPr>
        <p:spPr>
          <a:xfrm>
            <a:off x="609600" y="1905000"/>
            <a:ext cx="109728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w0-k"/>
          <p:cNvSpPr/>
          <p:nvPr/>
        </p:nvSpPr>
        <p:spPr>
          <a:xfrm>
            <a:off x="863600" y="21590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先登记，再开分支</a:t>
            </a:r>
            <a:endParaRPr lang="en-US" sz="1400" dirty="0"/>
          </a:p>
        </p:txBody>
      </p:sp>
      <p:sp>
        <p:nvSpPr>
          <p:cNvPr id="7" name="w0-v"/>
          <p:cNvSpPr/>
          <p:nvPr/>
        </p:nvSpPr>
        <p:spPr>
          <a:xfrm>
            <a:off x="2946400" y="21590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仓库用 Git 管：新功能或 bug 先写成 Issue，从主干开分支再动手。</a:t>
            </a:r>
            <a:endParaRPr lang="en-US" sz="1250" dirty="0"/>
          </a:p>
        </p:txBody>
      </p:sp>
      <p:sp>
        <p:nvSpPr>
          <p:cNvPr id="8" name="w1"/>
          <p:cNvSpPr/>
          <p:nvPr/>
        </p:nvSpPr>
        <p:spPr>
          <a:xfrm>
            <a:off x="609600" y="2794000"/>
            <a:ext cx="109728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w1-k"/>
          <p:cNvSpPr/>
          <p:nvPr/>
        </p:nvSpPr>
        <p:spPr>
          <a:xfrm>
            <a:off x="863600" y="30480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提交都要带编号</a:t>
            </a:r>
            <a:endParaRPr lang="en-US" sz="1400" dirty="0"/>
          </a:p>
        </p:txBody>
      </p:sp>
      <p:sp>
        <p:nvSpPr>
          <p:cNvPr id="10" name="w1-v"/>
          <p:cNvSpPr/>
          <p:nvPr/>
        </p:nvSpPr>
        <p:spPr>
          <a:xfrm>
            <a:off x="2946400" y="30480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每次提交挂上对应的 Issue 编号，没编号的改动不合入，方便回头看。</a:t>
            </a:r>
            <a:endParaRPr lang="en-US" sz="1250" dirty="0"/>
          </a:p>
        </p:txBody>
      </p:sp>
      <p:sp>
        <p:nvSpPr>
          <p:cNvPr id="11" name="w2"/>
          <p:cNvSpPr/>
          <p:nvPr/>
        </p:nvSpPr>
        <p:spPr>
          <a:xfrm>
            <a:off x="609600" y="3683000"/>
            <a:ext cx="109728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w2-k"/>
          <p:cNvSpPr/>
          <p:nvPr/>
        </p:nvSpPr>
        <p:spPr>
          <a:xfrm>
            <a:off x="863600" y="39370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每天对一次进度</a:t>
            </a:r>
            <a:endParaRPr lang="en-US" sz="1400" dirty="0"/>
          </a:p>
        </p:txBody>
      </p:sp>
      <p:sp>
        <p:nvSpPr>
          <p:cNvPr id="13" name="w2-v"/>
          <p:cNvSpPr/>
          <p:nvPr/>
        </p:nvSpPr>
        <p:spPr>
          <a:xfrm>
            <a:off x="2946400" y="39370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每天同步各自在做什么、卡在哪；接口和共享文件先商量好再改。</a:t>
            </a:r>
            <a:endParaRPr lang="en-US" sz="1250" dirty="0"/>
          </a:p>
        </p:txBody>
      </p:sp>
      <p:sp>
        <p:nvSpPr>
          <p:cNvPr id="14" name="w3"/>
          <p:cNvSpPr/>
          <p:nvPr/>
        </p:nvSpPr>
        <p:spPr>
          <a:xfrm>
            <a:off x="609600" y="4572000"/>
            <a:ext cx="109728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w3-k"/>
          <p:cNvSpPr/>
          <p:nvPr/>
        </p:nvSpPr>
        <p:spPr>
          <a:xfrm>
            <a:off x="863600" y="48260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合并前互相 review</a:t>
            </a:r>
            <a:endParaRPr lang="en-US" sz="1400" dirty="0"/>
          </a:p>
        </p:txBody>
      </p:sp>
      <p:sp>
        <p:nvSpPr>
          <p:cNvPr id="16" name="w3-v"/>
          <p:cNvSpPr/>
          <p:nvPr/>
        </p:nvSpPr>
        <p:spPr>
          <a:xfrm>
            <a:off x="2946400" y="48260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改动合并前互相 review，有冲突就当面一起解决。</a:t>
            </a:r>
            <a:endParaRPr lang="en-US" sz="1250" dirty="0"/>
          </a:p>
        </p:txBody>
      </p:sp>
      <p:sp>
        <p:nvSpPr>
          <p:cNvPr id="17" name="band"/>
          <p:cNvSpPr/>
          <p:nvPr/>
        </p:nvSpPr>
        <p:spPr>
          <a:xfrm>
            <a:off x="609600" y="5613400"/>
            <a:ext cx="109728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8" name="band-t"/>
          <p:cNvSpPr/>
          <p:nvPr/>
        </p:nvSpPr>
        <p:spPr>
          <a:xfrm>
            <a:off x="863600" y="5753100"/>
            <a:ext cx="1046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我们约好：不写没人看得懂的代码，不把问题留到最后一刻。</a:t>
            </a:r>
            <a:endParaRPr lang="en-US" sz="1250" dirty="0"/>
          </a:p>
        </p:txBody>
      </p:sp>
      <p:sp>
        <p:nvSpPr>
          <p:cNvPr id="19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0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1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我们怎么保证东西是好的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我们约定：先验证，再交付</a:t>
            </a:r>
            <a:endParaRPr lang="en-US" sz="3000" dirty="0"/>
          </a:p>
        </p:txBody>
      </p:sp>
      <p:sp>
        <p:nvSpPr>
          <p:cNvPr id="5" name="g0"/>
          <p:cNvSpPr/>
          <p:nvPr/>
        </p:nvSpPr>
        <p:spPr>
          <a:xfrm>
            <a:off x="609600" y="190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g0-n"/>
          <p:cNvSpPr/>
          <p:nvPr/>
        </p:nvSpPr>
        <p:spPr>
          <a:xfrm>
            <a:off x="838200" y="21336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五道门禁</a:t>
            </a:r>
            <a:endParaRPr lang="en-US" sz="1300" dirty="0"/>
          </a:p>
        </p:txBody>
      </p:sp>
      <p:sp>
        <p:nvSpPr>
          <p:cNvPr id="7" name="g0-b0"/>
          <p:cNvSpPr/>
          <p:nvPr/>
        </p:nvSpPr>
        <p:spPr>
          <a:xfrm>
            <a:off x="2590800" y="226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8" name="g0-t0"/>
          <p:cNvSpPr/>
          <p:nvPr/>
        </p:nvSpPr>
        <p:spPr>
          <a:xfrm>
            <a:off x="26670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 文档</a:t>
            </a:r>
            <a:endParaRPr lang="en-US" sz="1000" dirty="0"/>
          </a:p>
        </p:txBody>
      </p:sp>
      <p:sp>
        <p:nvSpPr>
          <p:cNvPr id="9" name="g0-b1"/>
          <p:cNvSpPr/>
          <p:nvPr/>
        </p:nvSpPr>
        <p:spPr>
          <a:xfrm>
            <a:off x="4368800" y="226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0" name="g0-t1"/>
          <p:cNvSpPr/>
          <p:nvPr/>
        </p:nvSpPr>
        <p:spPr>
          <a:xfrm>
            <a:off x="44450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界面国际化</a:t>
            </a:r>
            <a:endParaRPr lang="en-US" sz="1000" dirty="0"/>
          </a:p>
        </p:txBody>
      </p:sp>
      <p:sp>
        <p:nvSpPr>
          <p:cNvPr id="11" name="g0-b2"/>
          <p:cNvSpPr/>
          <p:nvPr/>
        </p:nvSpPr>
        <p:spPr>
          <a:xfrm>
            <a:off x="6146800" y="226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2" name="g0-t2"/>
          <p:cNvSpPr/>
          <p:nvPr/>
        </p:nvSpPr>
        <p:spPr>
          <a:xfrm>
            <a:off x="62230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表单与错误契约</a:t>
            </a:r>
            <a:endParaRPr lang="en-US" sz="1000" dirty="0"/>
          </a:p>
        </p:txBody>
      </p:sp>
      <p:sp>
        <p:nvSpPr>
          <p:cNvPr id="13" name="g0-b3"/>
          <p:cNvSpPr/>
          <p:nvPr/>
        </p:nvSpPr>
        <p:spPr>
          <a:xfrm>
            <a:off x="7924800" y="226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4" name="g0-t3"/>
          <p:cNvSpPr/>
          <p:nvPr/>
        </p:nvSpPr>
        <p:spPr>
          <a:xfrm>
            <a:off x="80010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隐私</a:t>
            </a:r>
            <a:endParaRPr lang="en-US" sz="1000" dirty="0"/>
          </a:p>
        </p:txBody>
      </p:sp>
      <p:sp>
        <p:nvSpPr>
          <p:cNvPr id="15" name="g0-b4"/>
          <p:cNvSpPr/>
          <p:nvPr/>
        </p:nvSpPr>
        <p:spPr>
          <a:xfrm>
            <a:off x="9702800" y="226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6" name="g0-t4"/>
          <p:cNvSpPr/>
          <p:nvPr/>
        </p:nvSpPr>
        <p:spPr>
          <a:xfrm>
            <a:off x="97790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含糊实现检查</a:t>
            </a:r>
            <a:endParaRPr lang="en-US" sz="1000" dirty="0"/>
          </a:p>
        </p:txBody>
      </p:sp>
      <p:sp>
        <p:nvSpPr>
          <p:cNvPr id="17" name="g1"/>
          <p:cNvSpPr/>
          <p:nvPr/>
        </p:nvSpPr>
        <p:spPr>
          <a:xfrm>
            <a:off x="609600" y="317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g1-n"/>
          <p:cNvSpPr/>
          <p:nvPr/>
        </p:nvSpPr>
        <p:spPr>
          <a:xfrm>
            <a:off x="838200" y="34036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三层测试（实测）</a:t>
            </a:r>
            <a:endParaRPr lang="en-US" sz="1300" dirty="0"/>
          </a:p>
        </p:txBody>
      </p:sp>
      <p:sp>
        <p:nvSpPr>
          <p:cNvPr id="19" name="g1-b0"/>
          <p:cNvSpPr/>
          <p:nvPr/>
        </p:nvSpPr>
        <p:spPr>
          <a:xfrm>
            <a:off x="2590800" y="353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0" name="g1-t0"/>
          <p:cNvSpPr/>
          <p:nvPr/>
        </p:nvSpPr>
        <p:spPr>
          <a:xfrm>
            <a:off x="26670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583</a:t>
            </a:r>
            <a:endParaRPr lang="en-US" sz="1000" dirty="0"/>
          </a:p>
        </p:txBody>
      </p:sp>
      <p:sp>
        <p:nvSpPr>
          <p:cNvPr id="21" name="g1-b1"/>
          <p:cNvSpPr/>
          <p:nvPr/>
        </p:nvSpPr>
        <p:spPr>
          <a:xfrm>
            <a:off x="4368800" y="353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2" name="g1-t1"/>
          <p:cNvSpPr/>
          <p:nvPr/>
        </p:nvSpPr>
        <p:spPr>
          <a:xfrm>
            <a:off x="44450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运行体 130</a:t>
            </a:r>
            <a:endParaRPr lang="en-US" sz="1000" dirty="0"/>
          </a:p>
        </p:txBody>
      </p:sp>
      <p:sp>
        <p:nvSpPr>
          <p:cNvPr id="23" name="g1-b2"/>
          <p:cNvSpPr/>
          <p:nvPr/>
        </p:nvSpPr>
        <p:spPr>
          <a:xfrm>
            <a:off x="6146800" y="353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4" name="g1-t2"/>
          <p:cNvSpPr/>
          <p:nvPr/>
        </p:nvSpPr>
        <p:spPr>
          <a:xfrm>
            <a:off x="62230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 649</a:t>
            </a:r>
            <a:endParaRPr lang="en-US" sz="1000" dirty="0"/>
          </a:p>
        </p:txBody>
      </p:sp>
      <p:sp>
        <p:nvSpPr>
          <p:cNvPr id="25" name="g1-b3"/>
          <p:cNvSpPr/>
          <p:nvPr/>
        </p:nvSpPr>
        <p:spPr>
          <a:xfrm>
            <a:off x="7924800" y="353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6" name="g1-t3"/>
          <p:cNvSpPr/>
          <p:nvPr/>
        </p:nvSpPr>
        <p:spPr>
          <a:xfrm>
            <a:off x="80010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含糊实现 0 条</a:t>
            </a:r>
            <a:endParaRPr lang="en-US" sz="1000" dirty="0"/>
          </a:p>
        </p:txBody>
      </p:sp>
      <p:sp>
        <p:nvSpPr>
          <p:cNvPr id="27" name="g2"/>
          <p:cNvSpPr/>
          <p:nvPr/>
        </p:nvSpPr>
        <p:spPr>
          <a:xfrm>
            <a:off x="609600" y="444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28" name="g2-n"/>
          <p:cNvSpPr/>
          <p:nvPr/>
        </p:nvSpPr>
        <p:spPr>
          <a:xfrm>
            <a:off x="838200" y="46736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我们的习惯</a:t>
            </a:r>
            <a:endParaRPr lang="en-US" sz="1300" dirty="0"/>
          </a:p>
        </p:txBody>
      </p:sp>
      <p:sp>
        <p:nvSpPr>
          <p:cNvPr id="29" name="g2-b0"/>
          <p:cNvSpPr/>
          <p:nvPr/>
        </p:nvSpPr>
        <p:spPr>
          <a:xfrm>
            <a:off x="2590800" y="480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0" name="g2-t0"/>
          <p:cNvSpPr/>
          <p:nvPr/>
        </p:nvSpPr>
        <p:spPr>
          <a:xfrm>
            <a:off x="26670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先写 Issue</a:t>
            </a:r>
            <a:endParaRPr lang="en-US" sz="1000" dirty="0"/>
          </a:p>
        </p:txBody>
      </p:sp>
      <p:sp>
        <p:nvSpPr>
          <p:cNvPr id="31" name="g2-b1"/>
          <p:cNvSpPr/>
          <p:nvPr/>
        </p:nvSpPr>
        <p:spPr>
          <a:xfrm>
            <a:off x="4368800" y="480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2" name="g2-t1"/>
          <p:cNvSpPr/>
          <p:nvPr/>
        </p:nvSpPr>
        <p:spPr>
          <a:xfrm>
            <a:off x="44450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 Storybook</a:t>
            </a:r>
            <a:endParaRPr lang="en-US" sz="1000" dirty="0"/>
          </a:p>
        </p:txBody>
      </p:sp>
      <p:sp>
        <p:nvSpPr>
          <p:cNvPr id="33" name="g2-b2"/>
          <p:cNvSpPr/>
          <p:nvPr/>
        </p:nvSpPr>
        <p:spPr>
          <a:xfrm>
            <a:off x="6146800" y="480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4" name="g2-t2"/>
          <p:cNvSpPr/>
          <p:nvPr/>
        </p:nvSpPr>
        <p:spPr>
          <a:xfrm>
            <a:off x="62230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提交前跑门禁</a:t>
            </a:r>
            <a:endParaRPr lang="en-US" sz="1000" dirty="0"/>
          </a:p>
        </p:txBody>
      </p:sp>
      <p:sp>
        <p:nvSpPr>
          <p:cNvPr id="35" name="g2-b3"/>
          <p:cNvSpPr/>
          <p:nvPr/>
        </p:nvSpPr>
        <p:spPr>
          <a:xfrm>
            <a:off x="7924800" y="4800600"/>
            <a:ext cx="1676400" cy="406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6" name="g2-t3"/>
          <p:cNvSpPr/>
          <p:nvPr/>
        </p:nvSpPr>
        <p:spPr>
          <a:xfrm>
            <a:off x="80010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改完互相看</a:t>
            </a:r>
            <a:endParaRPr lang="en-US" sz="1000" dirty="0"/>
          </a:p>
        </p:txBody>
      </p:sp>
      <p:sp>
        <p:nvSpPr>
          <p:cNvPr id="37" name="gate"/>
          <p:cNvSpPr/>
          <p:nvPr/>
        </p:nvSpPr>
        <p:spPr>
          <a:xfrm>
            <a:off x="609600" y="5740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界面先在 Storybook 里确认，再对接后端；含糊实现必须写清标记，一条命令就能查。</a:t>
            </a:r>
            <a:endParaRPr lang="en-US" sz="1200" dirty="0"/>
          </a:p>
        </p:txBody>
      </p:sp>
      <p:sp>
        <p:nvSpPr>
          <p:cNvPr id="38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9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40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我们啃下的困难 1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困难一：Key 失效，我们不再假装没事</a:t>
            </a:r>
            <a:endParaRPr lang="en-US" sz="3000" dirty="0"/>
          </a:p>
        </p:txBody>
      </p:sp>
      <p:sp>
        <p:nvSpPr>
          <p:cNvPr id="5" name="r0"/>
          <p:cNvSpPr/>
          <p:nvPr/>
        </p:nvSpPr>
        <p:spPr>
          <a:xfrm>
            <a:off x="609600" y="18796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r0-k"/>
          <p:cNvSpPr/>
          <p:nvPr/>
        </p:nvSpPr>
        <p:spPr>
          <a:xfrm>
            <a:off x="838200" y="20701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怎么发现</a:t>
            </a:r>
            <a:endParaRPr lang="en-US" sz="1300" dirty="0"/>
          </a:p>
        </p:txBody>
      </p:sp>
      <p:sp>
        <p:nvSpPr>
          <p:cNvPr id="7" name="r0-v"/>
          <p:cNvSpPr/>
          <p:nvPr/>
        </p:nvSpPr>
        <p:spPr>
          <a:xfrm>
            <a:off x="2006600" y="20447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跟助手说话半天没反应，界面一直转，我们以为是自己网络的问题。</a:t>
            </a:r>
            <a:endParaRPr lang="en-US" sz="1200" dirty="0"/>
          </a:p>
        </p:txBody>
      </p:sp>
      <p:sp>
        <p:nvSpPr>
          <p:cNvPr id="8" name="r1"/>
          <p:cNvSpPr/>
          <p:nvPr/>
        </p:nvSpPr>
        <p:spPr>
          <a:xfrm>
            <a:off x="609600" y="26162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r1-k"/>
          <p:cNvSpPr/>
          <p:nvPr/>
        </p:nvSpPr>
        <p:spPr>
          <a:xfrm>
            <a:off x="838200" y="28067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找到原因</a:t>
            </a:r>
            <a:endParaRPr lang="en-US" sz="1300" dirty="0"/>
          </a:p>
        </p:txBody>
      </p:sp>
      <p:sp>
        <p:nvSpPr>
          <p:cNvPr id="10" name="r1-v"/>
          <p:cNvSpPr/>
          <p:nvPr/>
        </p:nvSpPr>
        <p:spPr>
          <a:xfrm>
            <a:off x="2006600" y="27813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翻运行日志才看到上游返回 401；错误在路上被吞掉了，前端什么都拿不到。</a:t>
            </a:r>
            <a:endParaRPr lang="en-US" sz="1200" dirty="0"/>
          </a:p>
        </p:txBody>
      </p:sp>
      <p:sp>
        <p:nvSpPr>
          <p:cNvPr id="11" name="r2"/>
          <p:cNvSpPr/>
          <p:nvPr/>
        </p:nvSpPr>
        <p:spPr>
          <a:xfrm>
            <a:off x="609600" y="33528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r2-k"/>
          <p:cNvSpPr/>
          <p:nvPr/>
        </p:nvSpPr>
        <p:spPr>
          <a:xfrm>
            <a:off x="838200" y="35433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卡在哪</a:t>
            </a:r>
            <a:endParaRPr lang="en-US" sz="1300" dirty="0"/>
          </a:p>
        </p:txBody>
      </p:sp>
      <p:sp>
        <p:nvSpPr>
          <p:cNvPr id="13" name="r2-v"/>
          <p:cNvSpPr/>
          <p:nvPr/>
        </p:nvSpPr>
        <p:spPr>
          <a:xfrm>
            <a:off x="2006600" y="35179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一开始想在前端加提示，后来发现根子在后端没有把失败记下来。</a:t>
            </a:r>
            <a:endParaRPr lang="en-US" sz="1200" dirty="0"/>
          </a:p>
        </p:txBody>
      </p:sp>
      <p:sp>
        <p:nvSpPr>
          <p:cNvPr id="14" name="r3"/>
          <p:cNvSpPr/>
          <p:nvPr/>
        </p:nvSpPr>
        <p:spPr>
          <a:xfrm>
            <a:off x="609600" y="40894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r3-k"/>
          <p:cNvSpPr/>
          <p:nvPr/>
        </p:nvSpPr>
        <p:spPr>
          <a:xfrm>
            <a:off x="838200" y="42799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怎么解决</a:t>
            </a:r>
            <a:endParaRPr lang="en-US" sz="1300" dirty="0"/>
          </a:p>
        </p:txBody>
      </p:sp>
      <p:sp>
        <p:nvSpPr>
          <p:cNvPr id="16" name="r3-v"/>
          <p:cNvSpPr/>
          <p:nvPr/>
        </p:nvSpPr>
        <p:spPr>
          <a:xfrm>
            <a:off x="2006600" y="42545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把失败按类别、模型和 Key 尾号记下来，对话区直接报错，并给更新 Key 与重试。</a:t>
            </a:r>
            <a:endParaRPr lang="en-US" sz="1200" dirty="0"/>
          </a:p>
        </p:txBody>
      </p:sp>
      <p:sp>
        <p:nvSpPr>
          <p:cNvPr id="17" name="r4"/>
          <p:cNvSpPr/>
          <p:nvPr/>
        </p:nvSpPr>
        <p:spPr>
          <a:xfrm>
            <a:off x="609600" y="48260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r4-k"/>
          <p:cNvSpPr/>
          <p:nvPr/>
        </p:nvSpPr>
        <p:spPr>
          <a:xfrm>
            <a:off x="838200" y="50165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确认解决</a:t>
            </a:r>
            <a:endParaRPr lang="en-US" sz="1300" dirty="0"/>
          </a:p>
        </p:txBody>
      </p:sp>
      <p:sp>
        <p:nvSpPr>
          <p:cNvPr id="19" name="r4-v"/>
          <p:cNvSpPr/>
          <p:nvPr/>
        </p:nvSpPr>
        <p:spPr>
          <a:xfrm>
            <a:off x="2006600" y="49911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错误出口有了测试；我们故意用错的 Key 跑了一遍，界面如实报错。</a:t>
            </a:r>
            <a:endParaRPr lang="en-US" sz="1200" dirty="0"/>
          </a:p>
        </p:txBody>
      </p:sp>
      <p:sp>
        <p:nvSpPr>
          <p:cNvPr id="20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1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2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我们啃下的困难 2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困难二：让模型别再猜会话编号</a:t>
            </a:r>
            <a:endParaRPr lang="en-US" sz="3000" dirty="0"/>
          </a:p>
        </p:txBody>
      </p:sp>
      <p:sp>
        <p:nvSpPr>
          <p:cNvPr id="5" name="r0"/>
          <p:cNvSpPr/>
          <p:nvPr/>
        </p:nvSpPr>
        <p:spPr>
          <a:xfrm>
            <a:off x="609600" y="18796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r0-k"/>
          <p:cNvSpPr/>
          <p:nvPr/>
        </p:nvSpPr>
        <p:spPr>
          <a:xfrm>
            <a:off x="838200" y="20701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怎么发现</a:t>
            </a:r>
            <a:endParaRPr lang="en-US" sz="1300" dirty="0"/>
          </a:p>
        </p:txBody>
      </p:sp>
      <p:sp>
        <p:nvSpPr>
          <p:cNvPr id="7" name="r0-v"/>
          <p:cNvSpPr/>
          <p:nvPr/>
        </p:nvSpPr>
        <p:spPr>
          <a:xfrm>
            <a:off x="2006600" y="20447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让助手录一条信息，它反而反问我们要会话编号，什么都没写进去。</a:t>
            </a:r>
            <a:endParaRPr lang="en-US" sz="1200" dirty="0"/>
          </a:p>
        </p:txBody>
      </p:sp>
      <p:sp>
        <p:nvSpPr>
          <p:cNvPr id="8" name="r1"/>
          <p:cNvSpPr/>
          <p:nvPr/>
        </p:nvSpPr>
        <p:spPr>
          <a:xfrm>
            <a:off x="609600" y="26162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r1-k"/>
          <p:cNvSpPr/>
          <p:nvPr/>
        </p:nvSpPr>
        <p:spPr>
          <a:xfrm>
            <a:off x="838200" y="28067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找到原因</a:t>
            </a:r>
            <a:endParaRPr lang="en-US" sz="1300" dirty="0"/>
          </a:p>
        </p:txBody>
      </p:sp>
      <p:sp>
        <p:nvSpPr>
          <p:cNvPr id="10" name="r1-v"/>
          <p:cNvSpPr/>
          <p:nvPr/>
        </p:nvSpPr>
        <p:spPr>
          <a:xfrm>
            <a:off x="2006600" y="27813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日志里连续报「会话不存在」，模型自己猜的编号把运行体的绑定压掉了。</a:t>
            </a:r>
            <a:endParaRPr lang="en-US" sz="1200" dirty="0"/>
          </a:p>
        </p:txBody>
      </p:sp>
      <p:sp>
        <p:nvSpPr>
          <p:cNvPr id="11" name="r2"/>
          <p:cNvSpPr/>
          <p:nvPr/>
        </p:nvSpPr>
        <p:spPr>
          <a:xfrm>
            <a:off x="609600" y="33528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r2-k"/>
          <p:cNvSpPr/>
          <p:nvPr/>
        </p:nvSpPr>
        <p:spPr>
          <a:xfrm>
            <a:off x="838200" y="35433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卡在哪</a:t>
            </a:r>
            <a:endParaRPr lang="en-US" sz="1300" dirty="0"/>
          </a:p>
        </p:txBody>
      </p:sp>
      <p:sp>
        <p:nvSpPr>
          <p:cNvPr id="13" name="r2-v"/>
          <p:cNvSpPr/>
          <p:nvPr/>
        </p:nvSpPr>
        <p:spPr>
          <a:xfrm>
            <a:off x="2006600" y="35179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一开始以为是模型不听话，加提示词也没用，最后定位到作用域没有注入绑定。</a:t>
            </a:r>
            <a:endParaRPr lang="en-US" sz="1200" dirty="0"/>
          </a:p>
        </p:txBody>
      </p:sp>
      <p:sp>
        <p:nvSpPr>
          <p:cNvPr id="14" name="r3"/>
          <p:cNvSpPr/>
          <p:nvPr/>
        </p:nvSpPr>
        <p:spPr>
          <a:xfrm>
            <a:off x="609600" y="40894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r3-k"/>
          <p:cNvSpPr/>
          <p:nvPr/>
        </p:nvSpPr>
        <p:spPr>
          <a:xfrm>
            <a:off x="838200" y="42799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怎么解决</a:t>
            </a:r>
            <a:endParaRPr lang="en-US" sz="1300" dirty="0"/>
          </a:p>
        </p:txBody>
      </p:sp>
      <p:sp>
        <p:nvSpPr>
          <p:cNvPr id="16" name="r3-v"/>
          <p:cNvSpPr/>
          <p:nvPr/>
        </p:nvSpPr>
        <p:spPr>
          <a:xfrm>
            <a:off x="2006600" y="42545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profile 作用域把会话绑定注入进去，运行体强制覆盖模型猜的值。</a:t>
            </a:r>
            <a:endParaRPr lang="en-US" sz="1200" dirty="0"/>
          </a:p>
        </p:txBody>
      </p:sp>
      <p:sp>
        <p:nvSpPr>
          <p:cNvPr id="17" name="r4"/>
          <p:cNvSpPr/>
          <p:nvPr/>
        </p:nvSpPr>
        <p:spPr>
          <a:xfrm>
            <a:off x="609600" y="4826000"/>
            <a:ext cx="109728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r4-k"/>
          <p:cNvSpPr/>
          <p:nvPr/>
        </p:nvSpPr>
        <p:spPr>
          <a:xfrm>
            <a:off x="838200" y="50165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确认解决</a:t>
            </a:r>
            <a:endParaRPr lang="en-US" sz="1300" dirty="0"/>
          </a:p>
        </p:txBody>
      </p:sp>
      <p:sp>
        <p:nvSpPr>
          <p:cNvPr id="19" name="r4-v"/>
          <p:cNvSpPr/>
          <p:nvPr/>
        </p:nvSpPr>
        <p:spPr>
          <a:xfrm>
            <a:off x="2006600" y="499110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同样的话再说一遍，录入成功；新版本这类报错 0 次，旧版本是 22 次。</a:t>
            </a:r>
            <a:endParaRPr lang="en-US" sz="1200" dirty="0"/>
          </a:p>
        </p:txBody>
      </p:sp>
      <p:sp>
        <p:nvSpPr>
          <p:cNvPr id="20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1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2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我们啃下的困难 3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困难三：截图识别，我们从假实现换成真模型</a:t>
            </a:r>
            <a:endParaRPr lang="en-US" sz="3000" dirty="0"/>
          </a:p>
        </p:txBody>
      </p:sp>
      <p:sp>
        <p:nvSpPr>
          <p:cNvPr id="5" name="rail"/>
          <p:cNvSpPr/>
          <p:nvPr/>
        </p:nvSpPr>
        <p:spPr>
          <a:xfrm>
            <a:off x="1524000" y="1879600"/>
            <a:ext cx="25400" cy="38100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6" name="n0"/>
          <p:cNvSpPr/>
          <p:nvPr/>
        </p:nvSpPr>
        <p:spPr>
          <a:xfrm>
            <a:off x="1117600" y="2057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r0"/>
          <p:cNvSpPr/>
          <p:nvPr/>
        </p:nvSpPr>
        <p:spPr>
          <a:xfrm>
            <a:off x="1828800" y="1879600"/>
            <a:ext cx="97536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8" name="r0-k"/>
          <p:cNvSpPr/>
          <p:nvPr/>
        </p:nvSpPr>
        <p:spPr>
          <a:xfrm>
            <a:off x="2057400" y="20701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怎么发现</a:t>
            </a:r>
            <a:endParaRPr lang="en-US" sz="1300" dirty="0"/>
          </a:p>
        </p:txBody>
      </p:sp>
      <p:sp>
        <p:nvSpPr>
          <p:cNvPr id="9" name="r0-v"/>
          <p:cNvSpPr/>
          <p:nvPr/>
        </p:nvSpPr>
        <p:spPr>
          <a:xfrm>
            <a:off x="3225800" y="20447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上传岗位截图，返回的草案跟图片没关系，代码里还声明了后端不存在的接口。</a:t>
            </a:r>
            <a:endParaRPr lang="en-US" sz="1200" dirty="0"/>
          </a:p>
        </p:txBody>
      </p:sp>
      <p:sp>
        <p:nvSpPr>
          <p:cNvPr id="10" name="n1"/>
          <p:cNvSpPr/>
          <p:nvPr/>
        </p:nvSpPr>
        <p:spPr>
          <a:xfrm>
            <a:off x="1117600" y="2794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r1"/>
          <p:cNvSpPr/>
          <p:nvPr/>
        </p:nvSpPr>
        <p:spPr>
          <a:xfrm>
            <a:off x="1828800" y="2616200"/>
            <a:ext cx="97536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r1-k"/>
          <p:cNvSpPr/>
          <p:nvPr/>
        </p:nvSpPr>
        <p:spPr>
          <a:xfrm>
            <a:off x="2057400" y="28067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找到原因</a:t>
            </a:r>
            <a:endParaRPr lang="en-US" sz="1300" dirty="0"/>
          </a:p>
        </p:txBody>
      </p:sp>
      <p:sp>
        <p:nvSpPr>
          <p:cNvPr id="13" name="r1-v"/>
          <p:cNvSpPr/>
          <p:nvPr/>
        </p:nvSpPr>
        <p:spPr>
          <a:xfrm>
            <a:off x="3225800" y="27813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那段实现只读了文件名，注释里写着「前端演示」，两次审计都没注意到。</a:t>
            </a:r>
            <a:endParaRPr lang="en-US" sz="1200" dirty="0"/>
          </a:p>
        </p:txBody>
      </p:sp>
      <p:sp>
        <p:nvSpPr>
          <p:cNvPr id="14" name="n2"/>
          <p:cNvSpPr/>
          <p:nvPr/>
        </p:nvSpPr>
        <p:spPr>
          <a:xfrm>
            <a:off x="1117600" y="3530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r2"/>
          <p:cNvSpPr/>
          <p:nvPr/>
        </p:nvSpPr>
        <p:spPr>
          <a:xfrm>
            <a:off x="1828800" y="3352800"/>
            <a:ext cx="97536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6" name="r2-k"/>
          <p:cNvSpPr/>
          <p:nvPr/>
        </p:nvSpPr>
        <p:spPr>
          <a:xfrm>
            <a:off x="2057400" y="35433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卡在哪</a:t>
            </a:r>
            <a:endParaRPr lang="en-US" sz="1300" dirty="0"/>
          </a:p>
        </p:txBody>
      </p:sp>
      <p:sp>
        <p:nvSpPr>
          <p:cNvPr id="17" name="r2-v"/>
          <p:cNvSpPr/>
          <p:nvPr/>
        </p:nvSpPr>
        <p:spPr>
          <a:xfrm>
            <a:off x="3225800" y="35179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含糊的注释没法被机器枚举；我们决定不靠人眼，改成让门禁去查。</a:t>
            </a:r>
            <a:endParaRPr lang="en-US" sz="1200" dirty="0"/>
          </a:p>
        </p:txBody>
      </p:sp>
      <p:sp>
        <p:nvSpPr>
          <p:cNvPr id="18" name="n3"/>
          <p:cNvSpPr/>
          <p:nvPr/>
        </p:nvSpPr>
        <p:spPr>
          <a:xfrm>
            <a:off x="1117600" y="4267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r3"/>
          <p:cNvSpPr/>
          <p:nvPr/>
        </p:nvSpPr>
        <p:spPr>
          <a:xfrm>
            <a:off x="1828800" y="4089400"/>
            <a:ext cx="97536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20" name="r3-k"/>
          <p:cNvSpPr/>
          <p:nvPr/>
        </p:nvSpPr>
        <p:spPr>
          <a:xfrm>
            <a:off x="2057400" y="42799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怎么解决</a:t>
            </a:r>
            <a:endParaRPr lang="en-US" sz="1300" dirty="0"/>
          </a:p>
        </p:txBody>
      </p:sp>
      <p:sp>
        <p:nvSpPr>
          <p:cNvPr id="21" name="r3-v"/>
          <p:cNvSpPr/>
          <p:nvPr/>
        </p:nvSpPr>
        <p:spPr>
          <a:xfrm>
            <a:off x="3225800" y="42545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接上真实视觉模型，同时让门禁去查含糊实现，前端路由要和后端对得上。</a:t>
            </a:r>
            <a:endParaRPr lang="en-US" sz="1200" dirty="0"/>
          </a:p>
        </p:txBody>
      </p:sp>
      <p:sp>
        <p:nvSpPr>
          <p:cNvPr id="22" name="n4"/>
          <p:cNvSpPr/>
          <p:nvPr/>
        </p:nvSpPr>
        <p:spPr>
          <a:xfrm>
            <a:off x="1117600" y="5003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r4"/>
          <p:cNvSpPr/>
          <p:nvPr/>
        </p:nvSpPr>
        <p:spPr>
          <a:xfrm>
            <a:off x="1828800" y="4826000"/>
            <a:ext cx="9753600" cy="66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24" name="r4-k"/>
          <p:cNvSpPr/>
          <p:nvPr/>
        </p:nvSpPr>
        <p:spPr>
          <a:xfrm>
            <a:off x="2057400" y="50165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确认解决</a:t>
            </a:r>
            <a:endParaRPr lang="en-US" sz="1300" dirty="0"/>
          </a:p>
        </p:txBody>
      </p:sp>
      <p:sp>
        <p:nvSpPr>
          <p:cNvPr id="25" name="r4-v"/>
          <p:cNvSpPr/>
          <p:nvPr/>
        </p:nvSpPr>
        <p:spPr>
          <a:xfrm>
            <a:off x="3225800" y="49911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模型不支持看图时会明确提示换模型；门禁跑完，没有含糊实现。</a:t>
            </a:r>
            <a:endParaRPr lang="en-US" sz="1200" dirty="0"/>
          </a:p>
        </p:txBody>
      </p:sp>
      <p:sp>
        <p:nvSpPr>
          <p:cNvPr id="26" name="footnote"/>
          <p:cNvSpPr/>
          <p:nvPr/>
        </p:nvSpPr>
        <p:spPr>
          <a:xfrm>
            <a:off x="1828800" y="5740400"/>
            <a:ext cx="975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从假实现到真模型：我们把「不能糊弄」写成了可以执行的检查。</a:t>
            </a:r>
            <a:endParaRPr lang="en-US" sz="1100" dirty="0"/>
          </a:p>
        </p:txBody>
      </p:sp>
      <p:sp>
        <p:nvSpPr>
          <p:cNvPr id="27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8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9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我们收获了什么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比代码更重要的收获</a:t>
            </a:r>
            <a:endParaRPr lang="en-US" sz="3000" dirty="0"/>
          </a:p>
        </p:txBody>
      </p:sp>
      <p:sp>
        <p:nvSpPr>
          <p:cNvPr id="5" name="c0"/>
          <p:cNvSpPr/>
          <p:nvPr/>
        </p:nvSpPr>
        <p:spPr>
          <a:xfrm>
            <a:off x="6096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c0-n"/>
          <p:cNvSpPr/>
          <p:nvPr/>
        </p:nvSpPr>
        <p:spPr>
          <a:xfrm>
            <a:off x="8636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</a:t>
            </a:r>
            <a:endParaRPr lang="en-US" sz="1500" dirty="0"/>
          </a:p>
        </p:txBody>
      </p:sp>
      <p:sp>
        <p:nvSpPr>
          <p:cNvPr id="7" name="c0-r"/>
          <p:cNvSpPr/>
          <p:nvPr/>
        </p:nvSpPr>
        <p:spPr>
          <a:xfrm>
            <a:off x="8636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8" name="c0-b"/>
          <p:cNvSpPr/>
          <p:nvPr/>
        </p:nvSpPr>
        <p:spPr>
          <a:xfrm>
            <a:off x="8636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从只做单点功能，到能自己排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查整条链路：写测试、跑门禁、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把失败说清楚。</a:t>
            </a:r>
            <a:endParaRPr lang="en-US" sz="1200" dirty="0"/>
          </a:p>
        </p:txBody>
      </p:sp>
      <p:sp>
        <p:nvSpPr>
          <p:cNvPr id="9" name="c1"/>
          <p:cNvSpPr/>
          <p:nvPr/>
        </p:nvSpPr>
        <p:spPr>
          <a:xfrm>
            <a:off x="43688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0" name="c1-n"/>
          <p:cNvSpPr/>
          <p:nvPr/>
        </p:nvSpPr>
        <p:spPr>
          <a:xfrm>
            <a:off x="46228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</a:t>
            </a:r>
            <a:endParaRPr lang="en-US" sz="1500" dirty="0"/>
          </a:p>
        </p:txBody>
      </p:sp>
      <p:sp>
        <p:nvSpPr>
          <p:cNvPr id="11" name="c1-r"/>
          <p:cNvSpPr/>
          <p:nvPr/>
        </p:nvSpPr>
        <p:spPr>
          <a:xfrm>
            <a:off x="46228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2" name="c1-b"/>
          <p:cNvSpPr/>
          <p:nvPr/>
        </p:nvSpPr>
        <p:spPr>
          <a:xfrm>
            <a:off x="46228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学会了先说清楚再动手：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接口先谈、边界先划、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改完互相看一遍。</a:t>
            </a:r>
            <a:endParaRPr lang="en-US" sz="1200" dirty="0"/>
          </a:p>
        </p:txBody>
      </p:sp>
      <p:sp>
        <p:nvSpPr>
          <p:cNvPr id="13" name="c2"/>
          <p:cNvSpPr/>
          <p:nvPr/>
        </p:nvSpPr>
        <p:spPr>
          <a:xfrm>
            <a:off x="81280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4" name="c2-n"/>
          <p:cNvSpPr/>
          <p:nvPr/>
        </p:nvSpPr>
        <p:spPr>
          <a:xfrm>
            <a:off x="83820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</a:t>
            </a:r>
            <a:endParaRPr lang="en-US" sz="1500" dirty="0"/>
          </a:p>
        </p:txBody>
      </p:sp>
      <p:sp>
        <p:nvSpPr>
          <p:cNvPr id="15" name="c2-r"/>
          <p:cNvSpPr/>
          <p:nvPr/>
        </p:nvSpPr>
        <p:spPr>
          <a:xfrm>
            <a:off x="83820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6" name="c2-b"/>
          <p:cNvSpPr/>
          <p:nvPr/>
        </p:nvSpPr>
        <p:spPr>
          <a:xfrm>
            <a:off x="83820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最难的那几天谁都没甩锅：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卡住就一起坐下来定位，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改完一起确认。</a:t>
            </a:r>
            <a:endParaRPr lang="en-US" sz="1200" dirty="0"/>
          </a:p>
        </p:txBody>
      </p:sp>
      <p:sp>
        <p:nvSpPr>
          <p:cNvPr id="17" name="band"/>
          <p:cNvSpPr/>
          <p:nvPr/>
        </p:nvSpPr>
        <p:spPr>
          <a:xfrm>
            <a:off x="609600" y="4572000"/>
            <a:ext cx="109728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8" name="band-t"/>
          <p:cNvSpPr/>
          <p:nvPr/>
        </p:nvSpPr>
        <p:spPr>
          <a:xfrm>
            <a:off x="863600" y="4724400"/>
            <a:ext cx="1046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把踩过的坑写成规则留在仓库里——以后的开发不用再踩一遍。</a:t>
            </a:r>
            <a:endParaRPr lang="en-US" sz="1300" dirty="0"/>
          </a:p>
        </p:txBody>
      </p:sp>
      <p:sp>
        <p:nvSpPr>
          <p:cNvPr id="19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0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1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小结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3000" dirty="0"/>
          </a:p>
        </p:txBody>
      </p:sp>
      <p:sp>
        <p:nvSpPr>
          <p:cNvPr id="5" name="c0"/>
          <p:cNvSpPr/>
          <p:nvPr/>
        </p:nvSpPr>
        <p:spPr>
          <a:xfrm>
            <a:off x="6096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c0-n"/>
          <p:cNvSpPr/>
          <p:nvPr/>
        </p:nvSpPr>
        <p:spPr>
          <a:xfrm>
            <a:off x="8636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一个周期</a:t>
            </a:r>
            <a:endParaRPr lang="en-US" sz="1500" dirty="0"/>
          </a:p>
        </p:txBody>
      </p:sp>
      <p:sp>
        <p:nvSpPr>
          <p:cNvPr id="7" name="c0-r"/>
          <p:cNvSpPr/>
          <p:nvPr/>
        </p:nvSpPr>
        <p:spPr>
          <a:xfrm>
            <a:off x="8636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8" name="c0-b"/>
          <p:cNvSpPr/>
          <p:nvPr/>
        </p:nvSpPr>
        <p:spPr>
          <a:xfrm>
            <a:off x="8636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一个比赛周期，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三个人把想法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做成能跑的系统。</a:t>
            </a:r>
            <a:endParaRPr lang="en-US" sz="1200" dirty="0"/>
          </a:p>
        </p:txBody>
      </p:sp>
      <p:sp>
        <p:nvSpPr>
          <p:cNvPr id="9" name="c1"/>
          <p:cNvSpPr/>
          <p:nvPr/>
        </p:nvSpPr>
        <p:spPr>
          <a:xfrm>
            <a:off x="43688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0" name="c1-n"/>
          <p:cNvSpPr/>
          <p:nvPr/>
        </p:nvSpPr>
        <p:spPr>
          <a:xfrm>
            <a:off x="46228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一起做</a:t>
            </a:r>
            <a:endParaRPr lang="en-US" sz="1500" dirty="0"/>
          </a:p>
        </p:txBody>
      </p:sp>
      <p:sp>
        <p:nvSpPr>
          <p:cNvPr id="11" name="c1-r"/>
          <p:cNvSpPr/>
          <p:nvPr/>
        </p:nvSpPr>
        <p:spPr>
          <a:xfrm>
            <a:off x="46228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2" name="c1-b"/>
          <p:cNvSpPr/>
          <p:nvPr/>
        </p:nvSpPr>
        <p:spPr>
          <a:xfrm>
            <a:off x="46228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遇到问题一起定位，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改完一起确认，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证据都留在仓库里。</a:t>
            </a:r>
            <a:endParaRPr lang="en-US" sz="1200" dirty="0"/>
          </a:p>
        </p:txBody>
      </p:sp>
      <p:sp>
        <p:nvSpPr>
          <p:cNvPr id="13" name="c2"/>
          <p:cNvSpPr/>
          <p:nvPr/>
        </p:nvSpPr>
        <p:spPr>
          <a:xfrm>
            <a:off x="8128000" y="2032000"/>
            <a:ext cx="3454400" cy="2235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4" name="c2-n"/>
          <p:cNvSpPr/>
          <p:nvPr/>
        </p:nvSpPr>
        <p:spPr>
          <a:xfrm>
            <a:off x="8382000" y="22606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5" name="c2-r"/>
          <p:cNvSpPr/>
          <p:nvPr/>
        </p:nvSpPr>
        <p:spPr>
          <a:xfrm>
            <a:off x="8382000" y="2692400"/>
            <a:ext cx="7112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6" name="c2-b"/>
          <p:cNvSpPr/>
          <p:nvPr/>
        </p:nvSpPr>
        <p:spPr>
          <a:xfrm>
            <a:off x="8382000" y="2895600"/>
            <a:ext cx="2946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把检索升级为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+ 向量检索（RAG）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rerank 重排；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继续扩充岗位与题库。</a:t>
            </a:r>
            <a:endParaRPr lang="en-US" sz="1200" dirty="0"/>
          </a:p>
        </p:txBody>
      </p:sp>
      <p:sp>
        <p:nvSpPr>
          <p:cNvPr id="17" name="band"/>
          <p:cNvSpPr/>
          <p:nvPr/>
        </p:nvSpPr>
        <p:spPr>
          <a:xfrm>
            <a:off x="609600" y="4572000"/>
            <a:ext cx="109728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8" name="band-t"/>
          <p:cNvSpPr/>
          <p:nvPr/>
        </p:nvSpPr>
        <p:spPr>
          <a:xfrm>
            <a:off x="863600" y="4724400"/>
            <a:ext cx="1046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一个比赛周期结束；过程与证据都在仓库里，可逐条核查。</a:t>
            </a:r>
            <a:endParaRPr lang="en-US" sz="1300" dirty="0"/>
          </a:p>
        </p:txBody>
      </p:sp>
      <p:sp>
        <p:nvSpPr>
          <p:cNvPr id="19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0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</a:t>
            </a:r>
            <a:endParaRPr lang="en-US" sz="900" dirty="0"/>
          </a:p>
        </p:txBody>
      </p:sp>
      <p:sp>
        <p:nvSpPr>
          <p:cNvPr id="21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S5 团队完成过程 · A11 AI 模拟面试与能力提升软件</dc:title>
  <dc:subject>Local PPTD v2 editable rendering</dc:subject>
  <dc:creator>DSH PPTD</dc:creator>
  <cp:lastModifiedBy>DSH PPTD</cp:lastModifiedBy>
  <cp:revision>1</cp:revision>
  <dcterms:created xsi:type="dcterms:W3CDTF">2026-10-10T07:16:51Z</dcterms:created>
  <dcterms:modified xsi:type="dcterms:W3CDTF">2026-10-10T07:16:51Z</dcterms:modified>
</cp:coreProperties>
</file>